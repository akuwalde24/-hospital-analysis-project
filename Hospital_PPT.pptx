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7" r:id="rId2"/>
    <p:sldId id="258" r:id="rId3"/>
    <p:sldId id="259" r:id="rId4"/>
    <p:sldId id="260" r:id="rId5"/>
    <p:sldId id="261" r:id="rId6"/>
    <p:sldId id="262" r:id="rId7"/>
    <p:sldId id="263" r:id="rId8"/>
    <p:sldId id="264"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3B91E3-F5EC-40C9-8906-EEF2D72C5F20}" v="5" dt="2025-11-08T09:58:41.2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anksha Walde" userId="423f2d84042f708b" providerId="LiveId" clId="{9536475D-24FC-46F6-A7DC-C7E569314BB8}"/>
    <pc:docChg chg="undo custSel addSld modSld">
      <pc:chgData name="Akanksha Walde" userId="423f2d84042f708b" providerId="LiveId" clId="{9536475D-24FC-46F6-A7DC-C7E569314BB8}" dt="2025-11-12T09:54:08.706" v="317" actId="5793"/>
      <pc:docMkLst>
        <pc:docMk/>
      </pc:docMkLst>
      <pc:sldChg chg="addSp modSp mod">
        <pc:chgData name="Akanksha Walde" userId="423f2d84042f708b" providerId="LiveId" clId="{9536475D-24FC-46F6-A7DC-C7E569314BB8}" dt="2025-11-08T08:05:44.832" v="19" actId="1076"/>
        <pc:sldMkLst>
          <pc:docMk/>
          <pc:sldMk cId="2137288107" sldId="257"/>
        </pc:sldMkLst>
        <pc:spChg chg="add mod">
          <ac:chgData name="Akanksha Walde" userId="423f2d84042f708b" providerId="LiveId" clId="{9536475D-24FC-46F6-A7DC-C7E569314BB8}" dt="2025-11-08T08:05:44.832" v="19" actId="1076"/>
          <ac:spMkLst>
            <pc:docMk/>
            <pc:sldMk cId="2137288107" sldId="257"/>
            <ac:spMk id="6" creationId="{36FBC28C-E98A-E6A1-0C7C-60B828774170}"/>
          </ac:spMkLst>
        </pc:spChg>
      </pc:sldChg>
      <pc:sldChg chg="modSp mod">
        <pc:chgData name="Akanksha Walde" userId="423f2d84042f708b" providerId="LiveId" clId="{9536475D-24FC-46F6-A7DC-C7E569314BB8}" dt="2025-11-08T10:07:19.763" v="281" actId="1036"/>
        <pc:sldMkLst>
          <pc:docMk/>
          <pc:sldMk cId="735462841" sldId="259"/>
        </pc:sldMkLst>
        <pc:spChg chg="mod">
          <ac:chgData name="Akanksha Walde" userId="423f2d84042f708b" providerId="LiveId" clId="{9536475D-24FC-46F6-A7DC-C7E569314BB8}" dt="2025-11-08T10:07:19.763" v="281" actId="1036"/>
          <ac:spMkLst>
            <pc:docMk/>
            <pc:sldMk cId="735462841" sldId="259"/>
            <ac:spMk id="3" creationId="{02F544EF-DBC9-D01E-C99A-772FF324FC3F}"/>
          </ac:spMkLst>
        </pc:spChg>
        <pc:spChg chg="mod">
          <ac:chgData name="Akanksha Walde" userId="423f2d84042f708b" providerId="LiveId" clId="{9536475D-24FC-46F6-A7DC-C7E569314BB8}" dt="2025-11-08T10:07:08.266" v="275" actId="14100"/>
          <ac:spMkLst>
            <pc:docMk/>
            <pc:sldMk cId="735462841" sldId="259"/>
            <ac:spMk id="5" creationId="{9CBAD335-7261-963F-D4C6-428864860F28}"/>
          </ac:spMkLst>
        </pc:spChg>
      </pc:sldChg>
      <pc:sldChg chg="modSp mod">
        <pc:chgData name="Akanksha Walde" userId="423f2d84042f708b" providerId="LiveId" clId="{9536475D-24FC-46F6-A7DC-C7E569314BB8}" dt="2025-11-08T10:07:42.122" v="282" actId="20577"/>
        <pc:sldMkLst>
          <pc:docMk/>
          <pc:sldMk cId="585446137" sldId="260"/>
        </pc:sldMkLst>
        <pc:spChg chg="mod">
          <ac:chgData name="Akanksha Walde" userId="423f2d84042f708b" providerId="LiveId" clId="{9536475D-24FC-46F6-A7DC-C7E569314BB8}" dt="2025-11-08T10:07:42.122" v="282" actId="20577"/>
          <ac:spMkLst>
            <pc:docMk/>
            <pc:sldMk cId="585446137" sldId="260"/>
            <ac:spMk id="3" creationId="{FD848D3C-7E6E-6892-E26B-51DD992D1BC8}"/>
          </ac:spMkLst>
        </pc:spChg>
      </pc:sldChg>
      <pc:sldChg chg="modSp mod">
        <pc:chgData name="Akanksha Walde" userId="423f2d84042f708b" providerId="LiveId" clId="{9536475D-24FC-46F6-A7DC-C7E569314BB8}" dt="2025-11-08T10:07:56.404" v="284" actId="5793"/>
        <pc:sldMkLst>
          <pc:docMk/>
          <pc:sldMk cId="3988105084" sldId="261"/>
        </pc:sldMkLst>
        <pc:spChg chg="mod">
          <ac:chgData name="Akanksha Walde" userId="423f2d84042f708b" providerId="LiveId" clId="{9536475D-24FC-46F6-A7DC-C7E569314BB8}" dt="2025-11-08T10:07:56.404" v="284" actId="5793"/>
          <ac:spMkLst>
            <pc:docMk/>
            <pc:sldMk cId="3988105084" sldId="261"/>
            <ac:spMk id="3" creationId="{9FEBCB64-BAC8-3D0B-EB7E-671E32A572A2}"/>
          </ac:spMkLst>
        </pc:spChg>
      </pc:sldChg>
      <pc:sldChg chg="modSp mod">
        <pc:chgData name="Akanksha Walde" userId="423f2d84042f708b" providerId="LiveId" clId="{9536475D-24FC-46F6-A7DC-C7E569314BB8}" dt="2025-11-08T10:08:21.315" v="286" actId="5793"/>
        <pc:sldMkLst>
          <pc:docMk/>
          <pc:sldMk cId="1644817179" sldId="262"/>
        </pc:sldMkLst>
        <pc:spChg chg="mod">
          <ac:chgData name="Akanksha Walde" userId="423f2d84042f708b" providerId="LiveId" clId="{9536475D-24FC-46F6-A7DC-C7E569314BB8}" dt="2025-11-08T10:08:21.315" v="286" actId="5793"/>
          <ac:spMkLst>
            <pc:docMk/>
            <pc:sldMk cId="1644817179" sldId="262"/>
            <ac:spMk id="3" creationId="{B81C00EB-9859-95FB-251F-CBD6EFC880EB}"/>
          </ac:spMkLst>
        </pc:spChg>
      </pc:sldChg>
      <pc:sldChg chg="addSp delSp modSp mod">
        <pc:chgData name="Akanksha Walde" userId="423f2d84042f708b" providerId="LiveId" clId="{9536475D-24FC-46F6-A7DC-C7E569314BB8}" dt="2025-11-08T10:09:20.029" v="312" actId="20577"/>
        <pc:sldMkLst>
          <pc:docMk/>
          <pc:sldMk cId="984646622" sldId="263"/>
        </pc:sldMkLst>
        <pc:spChg chg="mod">
          <ac:chgData name="Akanksha Walde" userId="423f2d84042f708b" providerId="LiveId" clId="{9536475D-24FC-46F6-A7DC-C7E569314BB8}" dt="2025-11-08T10:09:20.029" v="312" actId="20577"/>
          <ac:spMkLst>
            <pc:docMk/>
            <pc:sldMk cId="984646622" sldId="263"/>
            <ac:spMk id="3" creationId="{DFCB1F6F-8AAC-48A9-E1FA-0015997AC54C}"/>
          </ac:spMkLst>
        </pc:spChg>
        <pc:spChg chg="mod">
          <ac:chgData name="Akanksha Walde" userId="423f2d84042f708b" providerId="LiveId" clId="{9536475D-24FC-46F6-A7DC-C7E569314BB8}" dt="2025-11-08T10:01:59.917" v="127" actId="20577"/>
          <ac:spMkLst>
            <pc:docMk/>
            <pc:sldMk cId="984646622" sldId="263"/>
            <ac:spMk id="6" creationId="{0D81E60E-5E51-6CE8-E4AC-56F571B23E16}"/>
          </ac:spMkLst>
        </pc:spChg>
      </pc:sldChg>
      <pc:sldChg chg="addSp delSp modSp add mod">
        <pc:chgData name="Akanksha Walde" userId="423f2d84042f708b" providerId="LiveId" clId="{9536475D-24FC-46F6-A7DC-C7E569314BB8}" dt="2025-11-12T09:54:08.706" v="317" actId="5793"/>
        <pc:sldMkLst>
          <pc:docMk/>
          <pc:sldMk cId="3710371225" sldId="264"/>
        </pc:sldMkLst>
        <pc:spChg chg="mod">
          <ac:chgData name="Akanksha Walde" userId="423f2d84042f708b" providerId="LiveId" clId="{9536475D-24FC-46F6-A7DC-C7E569314BB8}" dt="2025-11-12T09:54:08.706" v="317" actId="5793"/>
          <ac:spMkLst>
            <pc:docMk/>
            <pc:sldMk cId="3710371225" sldId="264"/>
            <ac:spMk id="3" creationId="{145A90A2-4892-1D2A-6EAF-E63CE896C63D}"/>
          </ac:spMkLst>
        </pc:spChg>
        <pc:spChg chg="mod">
          <ac:chgData name="Akanksha Walde" userId="423f2d84042f708b" providerId="LiveId" clId="{9536475D-24FC-46F6-A7DC-C7E569314BB8}" dt="2025-11-08T10:00:35.282" v="88" actId="403"/>
          <ac:spMkLst>
            <pc:docMk/>
            <pc:sldMk cId="3710371225" sldId="264"/>
            <ac:spMk id="6" creationId="{05BFD515-E9F5-342A-3213-0A68FCBB5450}"/>
          </ac:spMkLst>
        </pc:spChg>
      </pc:sldChg>
      <pc:sldChg chg="modSp add mod">
        <pc:chgData name="Akanksha Walde" userId="423f2d84042f708b" providerId="LiveId" clId="{9536475D-24FC-46F6-A7DC-C7E569314BB8}" dt="2025-11-08T10:03:51.502" v="196" actId="1076"/>
        <pc:sldMkLst>
          <pc:docMk/>
          <pc:sldMk cId="290947716" sldId="265"/>
        </pc:sldMkLst>
        <pc:spChg chg="mod">
          <ac:chgData name="Akanksha Walde" userId="423f2d84042f708b" providerId="LiveId" clId="{9536475D-24FC-46F6-A7DC-C7E569314BB8}" dt="2025-11-08T10:03:51.502" v="196" actId="1076"/>
          <ac:spMkLst>
            <pc:docMk/>
            <pc:sldMk cId="290947716" sldId="265"/>
            <ac:spMk id="3" creationId="{545C1DE4-3BCB-CD05-F3F9-4B8B983FFC32}"/>
          </ac:spMkLst>
        </pc:spChg>
        <pc:spChg chg="mod">
          <ac:chgData name="Akanksha Walde" userId="423f2d84042f708b" providerId="LiveId" clId="{9536475D-24FC-46F6-A7DC-C7E569314BB8}" dt="2025-11-08T10:03:45.032" v="195" actId="121"/>
          <ac:spMkLst>
            <pc:docMk/>
            <pc:sldMk cId="290947716" sldId="265"/>
            <ac:spMk id="6" creationId="{C3ADB47B-81D5-4611-0ED6-496585B2958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8AC1F43-F645-6A0B-4FBC-7B643F21D6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D4315E2A-E50F-8249-57DE-1869060F0A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A86957D-A609-43A6-8F95-FE151E15256D}" type="datetimeFigureOut">
              <a:rPr lang="en-IN" smtClean="0"/>
              <a:t>12-11-2025</a:t>
            </a:fld>
            <a:endParaRPr lang="en-IN"/>
          </a:p>
        </p:txBody>
      </p:sp>
      <p:sp>
        <p:nvSpPr>
          <p:cNvPr id="4" name="Footer Placeholder 3">
            <a:extLst>
              <a:ext uri="{FF2B5EF4-FFF2-40B4-BE49-F238E27FC236}">
                <a16:creationId xmlns:a16="http://schemas.microsoft.com/office/drawing/2014/main" id="{427876E4-B2F1-618E-6845-F736F2D97D6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Akanksha Walde</a:t>
            </a:r>
          </a:p>
        </p:txBody>
      </p:sp>
      <p:sp>
        <p:nvSpPr>
          <p:cNvPr id="5" name="Slide Number Placeholder 4">
            <a:extLst>
              <a:ext uri="{FF2B5EF4-FFF2-40B4-BE49-F238E27FC236}">
                <a16:creationId xmlns:a16="http://schemas.microsoft.com/office/drawing/2014/main" id="{582B894B-E467-830B-DAB6-AF168D64BA4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14FFEF-AFEB-4164-ACB9-13D06447EAC1}" type="slidenum">
              <a:rPr lang="en-IN" smtClean="0"/>
              <a:t>‹#›</a:t>
            </a:fld>
            <a:endParaRPr lang="en-IN"/>
          </a:p>
        </p:txBody>
      </p:sp>
    </p:spTree>
    <p:extLst>
      <p:ext uri="{BB962C8B-B14F-4D97-AF65-F5344CB8AC3E}">
        <p14:creationId xmlns:p14="http://schemas.microsoft.com/office/powerpoint/2010/main" val="388241683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7DD98C-494B-4308-938F-7A9F37B7B289}" type="datetimeFigureOut">
              <a:rPr lang="en-IN" smtClean="0"/>
              <a:t>12-11-2025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Akanksha Walde</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5BBCC1-2AC9-47FA-91BA-2EC6A36D5ABA}" type="slidenum">
              <a:rPr lang="en-IN" smtClean="0"/>
              <a:t>‹#›</a:t>
            </a:fld>
            <a:endParaRPr lang="en-IN"/>
          </a:p>
        </p:txBody>
      </p:sp>
    </p:spTree>
    <p:extLst>
      <p:ext uri="{BB962C8B-B14F-4D97-AF65-F5344CB8AC3E}">
        <p14:creationId xmlns:p14="http://schemas.microsoft.com/office/powerpoint/2010/main" val="188653408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2B42A-3521-983E-9D35-56C3C13474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B3D4EB6-CEEF-8CE8-EAC2-A310C2BA85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BF273DC-C9A5-2EF2-E04B-23F719BE34E9}"/>
              </a:ext>
            </a:extLst>
          </p:cNvPr>
          <p:cNvSpPr>
            <a:spLocks noGrp="1"/>
          </p:cNvSpPr>
          <p:nvPr>
            <p:ph type="dt" sz="half" idx="10"/>
          </p:nvPr>
        </p:nvSpPr>
        <p:spPr/>
        <p:txBody>
          <a:bodyPr/>
          <a:lstStyle/>
          <a:p>
            <a:fld id="{51DB31C3-CC37-469D-ABD7-276F2BDC5210}" type="datetime1">
              <a:rPr lang="en-IN" smtClean="0"/>
              <a:t>12-11-2025</a:t>
            </a:fld>
            <a:endParaRPr lang="en-IN"/>
          </a:p>
        </p:txBody>
      </p:sp>
      <p:sp>
        <p:nvSpPr>
          <p:cNvPr id="5" name="Footer Placeholder 4">
            <a:extLst>
              <a:ext uri="{FF2B5EF4-FFF2-40B4-BE49-F238E27FC236}">
                <a16:creationId xmlns:a16="http://schemas.microsoft.com/office/drawing/2014/main" id="{E5676C70-573E-0243-2067-6C46E0D7A0D4}"/>
              </a:ext>
            </a:extLst>
          </p:cNvPr>
          <p:cNvSpPr>
            <a:spLocks noGrp="1"/>
          </p:cNvSpPr>
          <p:nvPr>
            <p:ph type="ftr" sz="quarter" idx="11"/>
          </p:nvPr>
        </p:nvSpPr>
        <p:spPr/>
        <p:txBody>
          <a:bodyPr/>
          <a:lstStyle/>
          <a:p>
            <a:r>
              <a:rPr lang="en-IN"/>
              <a:t>By. Akanksha Walde</a:t>
            </a:r>
          </a:p>
        </p:txBody>
      </p:sp>
      <p:sp>
        <p:nvSpPr>
          <p:cNvPr id="6" name="Slide Number Placeholder 5">
            <a:extLst>
              <a:ext uri="{FF2B5EF4-FFF2-40B4-BE49-F238E27FC236}">
                <a16:creationId xmlns:a16="http://schemas.microsoft.com/office/drawing/2014/main" id="{E69DE9B8-8B48-9C0A-FA6D-C1A0BEF73FFD}"/>
              </a:ext>
            </a:extLst>
          </p:cNvPr>
          <p:cNvSpPr>
            <a:spLocks noGrp="1"/>
          </p:cNvSpPr>
          <p:nvPr>
            <p:ph type="sldNum" sz="quarter" idx="12"/>
          </p:nvPr>
        </p:nvSpPr>
        <p:spPr/>
        <p:txBody>
          <a:bodyPr/>
          <a:lstStyle/>
          <a:p>
            <a:fld id="{7DA0EDE6-70FC-47CA-B47E-B30DAC600134}" type="slidenum">
              <a:rPr lang="en-IN" smtClean="0"/>
              <a:t>‹#›</a:t>
            </a:fld>
            <a:endParaRPr lang="en-IN"/>
          </a:p>
        </p:txBody>
      </p:sp>
    </p:spTree>
    <p:extLst>
      <p:ext uri="{BB962C8B-B14F-4D97-AF65-F5344CB8AC3E}">
        <p14:creationId xmlns:p14="http://schemas.microsoft.com/office/powerpoint/2010/main" val="4005072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A98AC-F22C-6EF4-10E0-895DB657B8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BF6827-3008-A9A8-DD41-E7822CA87C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EF73B8-E056-65A2-E8EE-986403593043}"/>
              </a:ext>
            </a:extLst>
          </p:cNvPr>
          <p:cNvSpPr>
            <a:spLocks noGrp="1"/>
          </p:cNvSpPr>
          <p:nvPr>
            <p:ph type="dt" sz="half" idx="10"/>
          </p:nvPr>
        </p:nvSpPr>
        <p:spPr/>
        <p:txBody>
          <a:bodyPr/>
          <a:lstStyle/>
          <a:p>
            <a:fld id="{D9B3943B-F7D4-4FE7-9BCC-7A2A4EF8514B}" type="datetime1">
              <a:rPr lang="en-IN" smtClean="0"/>
              <a:t>12-11-2025</a:t>
            </a:fld>
            <a:endParaRPr lang="en-IN"/>
          </a:p>
        </p:txBody>
      </p:sp>
      <p:sp>
        <p:nvSpPr>
          <p:cNvPr id="5" name="Footer Placeholder 4">
            <a:extLst>
              <a:ext uri="{FF2B5EF4-FFF2-40B4-BE49-F238E27FC236}">
                <a16:creationId xmlns:a16="http://schemas.microsoft.com/office/drawing/2014/main" id="{FBDB897E-959B-4C48-5A10-7697F41DAE77}"/>
              </a:ext>
            </a:extLst>
          </p:cNvPr>
          <p:cNvSpPr>
            <a:spLocks noGrp="1"/>
          </p:cNvSpPr>
          <p:nvPr>
            <p:ph type="ftr" sz="quarter" idx="11"/>
          </p:nvPr>
        </p:nvSpPr>
        <p:spPr/>
        <p:txBody>
          <a:bodyPr/>
          <a:lstStyle/>
          <a:p>
            <a:r>
              <a:rPr lang="en-IN"/>
              <a:t>By. Akanksha Walde</a:t>
            </a:r>
          </a:p>
        </p:txBody>
      </p:sp>
      <p:sp>
        <p:nvSpPr>
          <p:cNvPr id="6" name="Slide Number Placeholder 5">
            <a:extLst>
              <a:ext uri="{FF2B5EF4-FFF2-40B4-BE49-F238E27FC236}">
                <a16:creationId xmlns:a16="http://schemas.microsoft.com/office/drawing/2014/main" id="{152CD6E9-BD57-A6B9-9DD6-A0C671F1D910}"/>
              </a:ext>
            </a:extLst>
          </p:cNvPr>
          <p:cNvSpPr>
            <a:spLocks noGrp="1"/>
          </p:cNvSpPr>
          <p:nvPr>
            <p:ph type="sldNum" sz="quarter" idx="12"/>
          </p:nvPr>
        </p:nvSpPr>
        <p:spPr/>
        <p:txBody>
          <a:bodyPr/>
          <a:lstStyle/>
          <a:p>
            <a:fld id="{7DA0EDE6-70FC-47CA-B47E-B30DAC600134}" type="slidenum">
              <a:rPr lang="en-IN" smtClean="0"/>
              <a:t>‹#›</a:t>
            </a:fld>
            <a:endParaRPr lang="en-IN"/>
          </a:p>
        </p:txBody>
      </p:sp>
    </p:spTree>
    <p:extLst>
      <p:ext uri="{BB962C8B-B14F-4D97-AF65-F5344CB8AC3E}">
        <p14:creationId xmlns:p14="http://schemas.microsoft.com/office/powerpoint/2010/main" val="2423861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F8415-CBE3-3198-22D6-A880CD20A9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E906BB5-87C9-75E1-8E41-30344C4604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78B9EC-83BC-3144-4DE2-FDF42132C1F9}"/>
              </a:ext>
            </a:extLst>
          </p:cNvPr>
          <p:cNvSpPr>
            <a:spLocks noGrp="1"/>
          </p:cNvSpPr>
          <p:nvPr>
            <p:ph type="dt" sz="half" idx="10"/>
          </p:nvPr>
        </p:nvSpPr>
        <p:spPr/>
        <p:txBody>
          <a:bodyPr/>
          <a:lstStyle/>
          <a:p>
            <a:fld id="{FF774E04-16B6-48DD-B915-159D51266974}" type="datetime1">
              <a:rPr lang="en-IN" smtClean="0"/>
              <a:t>12-11-2025</a:t>
            </a:fld>
            <a:endParaRPr lang="en-IN"/>
          </a:p>
        </p:txBody>
      </p:sp>
      <p:sp>
        <p:nvSpPr>
          <p:cNvPr id="5" name="Footer Placeholder 4">
            <a:extLst>
              <a:ext uri="{FF2B5EF4-FFF2-40B4-BE49-F238E27FC236}">
                <a16:creationId xmlns:a16="http://schemas.microsoft.com/office/drawing/2014/main" id="{A274918D-8F84-686E-68FA-4E87381AA323}"/>
              </a:ext>
            </a:extLst>
          </p:cNvPr>
          <p:cNvSpPr>
            <a:spLocks noGrp="1"/>
          </p:cNvSpPr>
          <p:nvPr>
            <p:ph type="ftr" sz="quarter" idx="11"/>
          </p:nvPr>
        </p:nvSpPr>
        <p:spPr/>
        <p:txBody>
          <a:bodyPr/>
          <a:lstStyle/>
          <a:p>
            <a:r>
              <a:rPr lang="en-IN"/>
              <a:t>By. Akanksha Walde</a:t>
            </a:r>
          </a:p>
        </p:txBody>
      </p:sp>
      <p:sp>
        <p:nvSpPr>
          <p:cNvPr id="6" name="Slide Number Placeholder 5">
            <a:extLst>
              <a:ext uri="{FF2B5EF4-FFF2-40B4-BE49-F238E27FC236}">
                <a16:creationId xmlns:a16="http://schemas.microsoft.com/office/drawing/2014/main" id="{B3C9D4AA-AFAE-945B-EA63-273CB2892542}"/>
              </a:ext>
            </a:extLst>
          </p:cNvPr>
          <p:cNvSpPr>
            <a:spLocks noGrp="1"/>
          </p:cNvSpPr>
          <p:nvPr>
            <p:ph type="sldNum" sz="quarter" idx="12"/>
          </p:nvPr>
        </p:nvSpPr>
        <p:spPr/>
        <p:txBody>
          <a:bodyPr/>
          <a:lstStyle/>
          <a:p>
            <a:fld id="{7DA0EDE6-70FC-47CA-B47E-B30DAC600134}" type="slidenum">
              <a:rPr lang="en-IN" smtClean="0"/>
              <a:t>‹#›</a:t>
            </a:fld>
            <a:endParaRPr lang="en-IN"/>
          </a:p>
        </p:txBody>
      </p:sp>
    </p:spTree>
    <p:extLst>
      <p:ext uri="{BB962C8B-B14F-4D97-AF65-F5344CB8AC3E}">
        <p14:creationId xmlns:p14="http://schemas.microsoft.com/office/powerpoint/2010/main" val="2297034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547AA-57E3-0D1F-59E4-69818F7DC2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649A703-53F9-38D4-C8A0-48279D8FCF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05600C2-C153-20CE-6D41-29E1F7F428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1CAE101-ED94-04BF-3179-354FE5921D0E}"/>
              </a:ext>
            </a:extLst>
          </p:cNvPr>
          <p:cNvSpPr>
            <a:spLocks noGrp="1"/>
          </p:cNvSpPr>
          <p:nvPr>
            <p:ph type="dt" sz="half" idx="10"/>
          </p:nvPr>
        </p:nvSpPr>
        <p:spPr/>
        <p:txBody>
          <a:bodyPr/>
          <a:lstStyle/>
          <a:p>
            <a:fld id="{D0296EF9-5294-4E65-AE0E-7A5E1B883605}" type="datetime1">
              <a:rPr lang="en-IN" smtClean="0"/>
              <a:t>12-11-2025</a:t>
            </a:fld>
            <a:endParaRPr lang="en-IN"/>
          </a:p>
        </p:txBody>
      </p:sp>
      <p:sp>
        <p:nvSpPr>
          <p:cNvPr id="6" name="Footer Placeholder 5">
            <a:extLst>
              <a:ext uri="{FF2B5EF4-FFF2-40B4-BE49-F238E27FC236}">
                <a16:creationId xmlns:a16="http://schemas.microsoft.com/office/drawing/2014/main" id="{4E9652E8-2949-BACC-F440-29DB5EF3BB88}"/>
              </a:ext>
            </a:extLst>
          </p:cNvPr>
          <p:cNvSpPr>
            <a:spLocks noGrp="1"/>
          </p:cNvSpPr>
          <p:nvPr>
            <p:ph type="ftr" sz="quarter" idx="11"/>
          </p:nvPr>
        </p:nvSpPr>
        <p:spPr/>
        <p:txBody>
          <a:bodyPr/>
          <a:lstStyle/>
          <a:p>
            <a:r>
              <a:rPr lang="en-IN"/>
              <a:t>By. Akanksha Walde</a:t>
            </a:r>
          </a:p>
        </p:txBody>
      </p:sp>
      <p:sp>
        <p:nvSpPr>
          <p:cNvPr id="7" name="Slide Number Placeholder 6">
            <a:extLst>
              <a:ext uri="{FF2B5EF4-FFF2-40B4-BE49-F238E27FC236}">
                <a16:creationId xmlns:a16="http://schemas.microsoft.com/office/drawing/2014/main" id="{4A316E6F-74BE-CF87-4A38-00EB8AEEB621}"/>
              </a:ext>
            </a:extLst>
          </p:cNvPr>
          <p:cNvSpPr>
            <a:spLocks noGrp="1"/>
          </p:cNvSpPr>
          <p:nvPr>
            <p:ph type="sldNum" sz="quarter" idx="12"/>
          </p:nvPr>
        </p:nvSpPr>
        <p:spPr/>
        <p:txBody>
          <a:bodyPr/>
          <a:lstStyle/>
          <a:p>
            <a:fld id="{7DA0EDE6-70FC-47CA-B47E-B30DAC600134}" type="slidenum">
              <a:rPr lang="en-IN" smtClean="0"/>
              <a:t>‹#›</a:t>
            </a:fld>
            <a:endParaRPr lang="en-IN"/>
          </a:p>
        </p:txBody>
      </p:sp>
    </p:spTree>
    <p:extLst>
      <p:ext uri="{BB962C8B-B14F-4D97-AF65-F5344CB8AC3E}">
        <p14:creationId xmlns:p14="http://schemas.microsoft.com/office/powerpoint/2010/main" val="1489093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EFE3B-EC14-96B4-D1BC-327EDAD5114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983B92C-05B2-1505-B14A-9BD7E1B95E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A78552-5AE3-411F-ED01-D0B1AA5C11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4F2228A-EB70-0489-1EA7-A935D8F831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1758FC-CB52-1C93-C88C-2D921345E2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48F45CC-0D45-479C-9098-06B244B89EB3}"/>
              </a:ext>
            </a:extLst>
          </p:cNvPr>
          <p:cNvSpPr>
            <a:spLocks noGrp="1"/>
          </p:cNvSpPr>
          <p:nvPr>
            <p:ph type="dt" sz="half" idx="10"/>
          </p:nvPr>
        </p:nvSpPr>
        <p:spPr/>
        <p:txBody>
          <a:bodyPr/>
          <a:lstStyle/>
          <a:p>
            <a:fld id="{7E80C02C-A83D-4DF6-8AEC-3FE3D0C0BBE1}" type="datetime1">
              <a:rPr lang="en-IN" smtClean="0"/>
              <a:t>12-11-2025</a:t>
            </a:fld>
            <a:endParaRPr lang="en-IN"/>
          </a:p>
        </p:txBody>
      </p:sp>
      <p:sp>
        <p:nvSpPr>
          <p:cNvPr id="8" name="Footer Placeholder 7">
            <a:extLst>
              <a:ext uri="{FF2B5EF4-FFF2-40B4-BE49-F238E27FC236}">
                <a16:creationId xmlns:a16="http://schemas.microsoft.com/office/drawing/2014/main" id="{3E123778-A715-4693-07CD-C9ED0A175C19}"/>
              </a:ext>
            </a:extLst>
          </p:cNvPr>
          <p:cNvSpPr>
            <a:spLocks noGrp="1"/>
          </p:cNvSpPr>
          <p:nvPr>
            <p:ph type="ftr" sz="quarter" idx="11"/>
          </p:nvPr>
        </p:nvSpPr>
        <p:spPr/>
        <p:txBody>
          <a:bodyPr/>
          <a:lstStyle/>
          <a:p>
            <a:r>
              <a:rPr lang="en-IN"/>
              <a:t>By. Akanksha Walde</a:t>
            </a:r>
          </a:p>
        </p:txBody>
      </p:sp>
      <p:sp>
        <p:nvSpPr>
          <p:cNvPr id="9" name="Slide Number Placeholder 8">
            <a:extLst>
              <a:ext uri="{FF2B5EF4-FFF2-40B4-BE49-F238E27FC236}">
                <a16:creationId xmlns:a16="http://schemas.microsoft.com/office/drawing/2014/main" id="{CD6227D0-86FD-1AC1-56F5-A34D4D886C2C}"/>
              </a:ext>
            </a:extLst>
          </p:cNvPr>
          <p:cNvSpPr>
            <a:spLocks noGrp="1"/>
          </p:cNvSpPr>
          <p:nvPr>
            <p:ph type="sldNum" sz="quarter" idx="12"/>
          </p:nvPr>
        </p:nvSpPr>
        <p:spPr/>
        <p:txBody>
          <a:bodyPr/>
          <a:lstStyle/>
          <a:p>
            <a:fld id="{7DA0EDE6-70FC-47CA-B47E-B30DAC600134}" type="slidenum">
              <a:rPr lang="en-IN" smtClean="0"/>
              <a:t>‹#›</a:t>
            </a:fld>
            <a:endParaRPr lang="en-IN"/>
          </a:p>
        </p:txBody>
      </p:sp>
    </p:spTree>
    <p:extLst>
      <p:ext uri="{BB962C8B-B14F-4D97-AF65-F5344CB8AC3E}">
        <p14:creationId xmlns:p14="http://schemas.microsoft.com/office/powerpoint/2010/main" val="821224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70493-1E61-369C-1485-C83202C5490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735936B-8643-BC72-1454-03F0AE0E62B6}"/>
              </a:ext>
            </a:extLst>
          </p:cNvPr>
          <p:cNvSpPr>
            <a:spLocks noGrp="1"/>
          </p:cNvSpPr>
          <p:nvPr>
            <p:ph type="dt" sz="half" idx="10"/>
          </p:nvPr>
        </p:nvSpPr>
        <p:spPr/>
        <p:txBody>
          <a:bodyPr/>
          <a:lstStyle/>
          <a:p>
            <a:fld id="{06B89543-530B-41E0-B198-FAFEFEA3ADC3}" type="datetime1">
              <a:rPr lang="en-IN" smtClean="0"/>
              <a:t>12-11-2025</a:t>
            </a:fld>
            <a:endParaRPr lang="en-IN"/>
          </a:p>
        </p:txBody>
      </p:sp>
      <p:sp>
        <p:nvSpPr>
          <p:cNvPr id="4" name="Footer Placeholder 3">
            <a:extLst>
              <a:ext uri="{FF2B5EF4-FFF2-40B4-BE49-F238E27FC236}">
                <a16:creationId xmlns:a16="http://schemas.microsoft.com/office/drawing/2014/main" id="{2CC73310-AB0A-D08B-C567-011E2BB8434E}"/>
              </a:ext>
            </a:extLst>
          </p:cNvPr>
          <p:cNvSpPr>
            <a:spLocks noGrp="1"/>
          </p:cNvSpPr>
          <p:nvPr>
            <p:ph type="ftr" sz="quarter" idx="11"/>
          </p:nvPr>
        </p:nvSpPr>
        <p:spPr/>
        <p:txBody>
          <a:bodyPr/>
          <a:lstStyle/>
          <a:p>
            <a:r>
              <a:rPr lang="en-IN"/>
              <a:t>By. Akanksha Walde</a:t>
            </a:r>
          </a:p>
        </p:txBody>
      </p:sp>
      <p:sp>
        <p:nvSpPr>
          <p:cNvPr id="5" name="Slide Number Placeholder 4">
            <a:extLst>
              <a:ext uri="{FF2B5EF4-FFF2-40B4-BE49-F238E27FC236}">
                <a16:creationId xmlns:a16="http://schemas.microsoft.com/office/drawing/2014/main" id="{1FB24E19-F362-4B39-EEB4-3456DA1D0F31}"/>
              </a:ext>
            </a:extLst>
          </p:cNvPr>
          <p:cNvSpPr>
            <a:spLocks noGrp="1"/>
          </p:cNvSpPr>
          <p:nvPr>
            <p:ph type="sldNum" sz="quarter" idx="12"/>
          </p:nvPr>
        </p:nvSpPr>
        <p:spPr/>
        <p:txBody>
          <a:bodyPr/>
          <a:lstStyle/>
          <a:p>
            <a:fld id="{7DA0EDE6-70FC-47CA-B47E-B30DAC600134}" type="slidenum">
              <a:rPr lang="en-IN" smtClean="0"/>
              <a:t>‹#›</a:t>
            </a:fld>
            <a:endParaRPr lang="en-IN"/>
          </a:p>
        </p:txBody>
      </p:sp>
    </p:spTree>
    <p:extLst>
      <p:ext uri="{BB962C8B-B14F-4D97-AF65-F5344CB8AC3E}">
        <p14:creationId xmlns:p14="http://schemas.microsoft.com/office/powerpoint/2010/main" val="3613932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C1D8AF-F6D9-3EF2-7CDB-45C376C5EBBC}"/>
              </a:ext>
            </a:extLst>
          </p:cNvPr>
          <p:cNvSpPr>
            <a:spLocks noGrp="1"/>
          </p:cNvSpPr>
          <p:nvPr>
            <p:ph type="dt" sz="half" idx="10"/>
          </p:nvPr>
        </p:nvSpPr>
        <p:spPr/>
        <p:txBody>
          <a:bodyPr/>
          <a:lstStyle/>
          <a:p>
            <a:fld id="{E2B1A13D-FA76-4B4E-97B6-E9814F18B4E0}" type="datetime1">
              <a:rPr lang="en-IN" smtClean="0"/>
              <a:t>12-11-2025</a:t>
            </a:fld>
            <a:endParaRPr lang="en-IN"/>
          </a:p>
        </p:txBody>
      </p:sp>
      <p:sp>
        <p:nvSpPr>
          <p:cNvPr id="3" name="Footer Placeholder 2">
            <a:extLst>
              <a:ext uri="{FF2B5EF4-FFF2-40B4-BE49-F238E27FC236}">
                <a16:creationId xmlns:a16="http://schemas.microsoft.com/office/drawing/2014/main" id="{ED972DB3-89C8-19E5-96C6-55D35C2A97A5}"/>
              </a:ext>
            </a:extLst>
          </p:cNvPr>
          <p:cNvSpPr>
            <a:spLocks noGrp="1"/>
          </p:cNvSpPr>
          <p:nvPr>
            <p:ph type="ftr" sz="quarter" idx="11"/>
          </p:nvPr>
        </p:nvSpPr>
        <p:spPr/>
        <p:txBody>
          <a:bodyPr/>
          <a:lstStyle/>
          <a:p>
            <a:r>
              <a:rPr lang="en-IN"/>
              <a:t>By. Akanksha Walde</a:t>
            </a:r>
          </a:p>
        </p:txBody>
      </p:sp>
      <p:sp>
        <p:nvSpPr>
          <p:cNvPr id="4" name="Slide Number Placeholder 3">
            <a:extLst>
              <a:ext uri="{FF2B5EF4-FFF2-40B4-BE49-F238E27FC236}">
                <a16:creationId xmlns:a16="http://schemas.microsoft.com/office/drawing/2014/main" id="{497FF376-3947-59D9-C59B-951D80D33503}"/>
              </a:ext>
            </a:extLst>
          </p:cNvPr>
          <p:cNvSpPr>
            <a:spLocks noGrp="1"/>
          </p:cNvSpPr>
          <p:nvPr>
            <p:ph type="sldNum" sz="quarter" idx="12"/>
          </p:nvPr>
        </p:nvSpPr>
        <p:spPr/>
        <p:txBody>
          <a:bodyPr/>
          <a:lstStyle/>
          <a:p>
            <a:fld id="{7DA0EDE6-70FC-47CA-B47E-B30DAC600134}" type="slidenum">
              <a:rPr lang="en-IN" smtClean="0"/>
              <a:t>‹#›</a:t>
            </a:fld>
            <a:endParaRPr lang="en-IN"/>
          </a:p>
        </p:txBody>
      </p:sp>
    </p:spTree>
    <p:extLst>
      <p:ext uri="{BB962C8B-B14F-4D97-AF65-F5344CB8AC3E}">
        <p14:creationId xmlns:p14="http://schemas.microsoft.com/office/powerpoint/2010/main" val="3427286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1F35B-710B-9CCC-C68A-4C87B7B213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F9220A0-1269-0726-6EC6-B731DBFB07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D128AD8-0062-5D14-0657-125C841188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FE2FC0-98E7-AC8C-C1FF-0BA546332892}"/>
              </a:ext>
            </a:extLst>
          </p:cNvPr>
          <p:cNvSpPr>
            <a:spLocks noGrp="1"/>
          </p:cNvSpPr>
          <p:nvPr>
            <p:ph type="dt" sz="half" idx="10"/>
          </p:nvPr>
        </p:nvSpPr>
        <p:spPr/>
        <p:txBody>
          <a:bodyPr/>
          <a:lstStyle/>
          <a:p>
            <a:fld id="{7E5403FB-7CA1-446A-8513-89C7F46E0F46}" type="datetime1">
              <a:rPr lang="en-IN" smtClean="0"/>
              <a:t>12-11-2025</a:t>
            </a:fld>
            <a:endParaRPr lang="en-IN"/>
          </a:p>
        </p:txBody>
      </p:sp>
      <p:sp>
        <p:nvSpPr>
          <p:cNvPr id="6" name="Footer Placeholder 5">
            <a:extLst>
              <a:ext uri="{FF2B5EF4-FFF2-40B4-BE49-F238E27FC236}">
                <a16:creationId xmlns:a16="http://schemas.microsoft.com/office/drawing/2014/main" id="{7FF582D8-5E5F-B775-F57D-BB20BF1C4CE8}"/>
              </a:ext>
            </a:extLst>
          </p:cNvPr>
          <p:cNvSpPr>
            <a:spLocks noGrp="1"/>
          </p:cNvSpPr>
          <p:nvPr>
            <p:ph type="ftr" sz="quarter" idx="11"/>
          </p:nvPr>
        </p:nvSpPr>
        <p:spPr/>
        <p:txBody>
          <a:bodyPr/>
          <a:lstStyle/>
          <a:p>
            <a:r>
              <a:rPr lang="en-IN"/>
              <a:t>By. Akanksha Walde</a:t>
            </a:r>
          </a:p>
        </p:txBody>
      </p:sp>
      <p:sp>
        <p:nvSpPr>
          <p:cNvPr id="7" name="Slide Number Placeholder 6">
            <a:extLst>
              <a:ext uri="{FF2B5EF4-FFF2-40B4-BE49-F238E27FC236}">
                <a16:creationId xmlns:a16="http://schemas.microsoft.com/office/drawing/2014/main" id="{F7484130-BF26-CEFA-D7EB-93FBDF61B7C4}"/>
              </a:ext>
            </a:extLst>
          </p:cNvPr>
          <p:cNvSpPr>
            <a:spLocks noGrp="1"/>
          </p:cNvSpPr>
          <p:nvPr>
            <p:ph type="sldNum" sz="quarter" idx="12"/>
          </p:nvPr>
        </p:nvSpPr>
        <p:spPr/>
        <p:txBody>
          <a:bodyPr/>
          <a:lstStyle/>
          <a:p>
            <a:fld id="{7DA0EDE6-70FC-47CA-B47E-B30DAC600134}" type="slidenum">
              <a:rPr lang="en-IN" smtClean="0"/>
              <a:t>‹#›</a:t>
            </a:fld>
            <a:endParaRPr lang="en-IN"/>
          </a:p>
        </p:txBody>
      </p:sp>
    </p:spTree>
    <p:extLst>
      <p:ext uri="{BB962C8B-B14F-4D97-AF65-F5344CB8AC3E}">
        <p14:creationId xmlns:p14="http://schemas.microsoft.com/office/powerpoint/2010/main" val="3891440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C792DF-288A-E6D0-C120-A9B2E73C8C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F21D7EC-3BCC-CFCC-34AA-B61582836C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80DBCBA-A117-6421-D071-7572DEC159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9F1022-5FF9-385C-012F-636EA2481C96}"/>
              </a:ext>
            </a:extLst>
          </p:cNvPr>
          <p:cNvSpPr>
            <a:spLocks noGrp="1"/>
          </p:cNvSpPr>
          <p:nvPr>
            <p:ph type="dt" sz="half" idx="10"/>
          </p:nvPr>
        </p:nvSpPr>
        <p:spPr/>
        <p:txBody>
          <a:bodyPr/>
          <a:lstStyle/>
          <a:p>
            <a:fld id="{3EFEE4C4-F5A0-47B6-B49F-7C1960853029}" type="datetime1">
              <a:rPr lang="en-IN" smtClean="0"/>
              <a:t>12-11-2025</a:t>
            </a:fld>
            <a:endParaRPr lang="en-IN"/>
          </a:p>
        </p:txBody>
      </p:sp>
      <p:sp>
        <p:nvSpPr>
          <p:cNvPr id="6" name="Footer Placeholder 5">
            <a:extLst>
              <a:ext uri="{FF2B5EF4-FFF2-40B4-BE49-F238E27FC236}">
                <a16:creationId xmlns:a16="http://schemas.microsoft.com/office/drawing/2014/main" id="{2722EF1A-D5FE-A8A1-635A-1801D81019C5}"/>
              </a:ext>
            </a:extLst>
          </p:cNvPr>
          <p:cNvSpPr>
            <a:spLocks noGrp="1"/>
          </p:cNvSpPr>
          <p:nvPr>
            <p:ph type="ftr" sz="quarter" idx="11"/>
          </p:nvPr>
        </p:nvSpPr>
        <p:spPr/>
        <p:txBody>
          <a:bodyPr/>
          <a:lstStyle/>
          <a:p>
            <a:r>
              <a:rPr lang="en-IN"/>
              <a:t>By. Akanksha Walde</a:t>
            </a:r>
          </a:p>
        </p:txBody>
      </p:sp>
      <p:sp>
        <p:nvSpPr>
          <p:cNvPr id="7" name="Slide Number Placeholder 6">
            <a:extLst>
              <a:ext uri="{FF2B5EF4-FFF2-40B4-BE49-F238E27FC236}">
                <a16:creationId xmlns:a16="http://schemas.microsoft.com/office/drawing/2014/main" id="{468B10AA-E59B-41D6-4AC5-897D97793461}"/>
              </a:ext>
            </a:extLst>
          </p:cNvPr>
          <p:cNvSpPr>
            <a:spLocks noGrp="1"/>
          </p:cNvSpPr>
          <p:nvPr>
            <p:ph type="sldNum" sz="quarter" idx="12"/>
          </p:nvPr>
        </p:nvSpPr>
        <p:spPr/>
        <p:txBody>
          <a:bodyPr/>
          <a:lstStyle/>
          <a:p>
            <a:fld id="{7DA0EDE6-70FC-47CA-B47E-B30DAC600134}" type="slidenum">
              <a:rPr lang="en-IN" smtClean="0"/>
              <a:t>‹#›</a:t>
            </a:fld>
            <a:endParaRPr lang="en-IN"/>
          </a:p>
        </p:txBody>
      </p:sp>
    </p:spTree>
    <p:extLst>
      <p:ext uri="{BB962C8B-B14F-4D97-AF65-F5344CB8AC3E}">
        <p14:creationId xmlns:p14="http://schemas.microsoft.com/office/powerpoint/2010/main" val="4099036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F9370-0E77-DFD8-42BE-21EB20CEA76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A97DDD-E8A2-5598-8F80-8EE003BE26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A13596-16F9-AD93-E371-18105C1E65AF}"/>
              </a:ext>
            </a:extLst>
          </p:cNvPr>
          <p:cNvSpPr>
            <a:spLocks noGrp="1"/>
          </p:cNvSpPr>
          <p:nvPr>
            <p:ph type="dt" sz="half" idx="10"/>
          </p:nvPr>
        </p:nvSpPr>
        <p:spPr/>
        <p:txBody>
          <a:bodyPr/>
          <a:lstStyle/>
          <a:p>
            <a:fld id="{DB483F62-02F8-4181-A973-8F61A5CE92AF}" type="datetime1">
              <a:rPr lang="en-IN" smtClean="0"/>
              <a:t>12-11-2025</a:t>
            </a:fld>
            <a:endParaRPr lang="en-IN"/>
          </a:p>
        </p:txBody>
      </p:sp>
      <p:sp>
        <p:nvSpPr>
          <p:cNvPr id="5" name="Footer Placeholder 4">
            <a:extLst>
              <a:ext uri="{FF2B5EF4-FFF2-40B4-BE49-F238E27FC236}">
                <a16:creationId xmlns:a16="http://schemas.microsoft.com/office/drawing/2014/main" id="{1D42EA06-1ADD-6A9C-E37F-ACDB969A935F}"/>
              </a:ext>
            </a:extLst>
          </p:cNvPr>
          <p:cNvSpPr>
            <a:spLocks noGrp="1"/>
          </p:cNvSpPr>
          <p:nvPr>
            <p:ph type="ftr" sz="quarter" idx="11"/>
          </p:nvPr>
        </p:nvSpPr>
        <p:spPr/>
        <p:txBody>
          <a:bodyPr/>
          <a:lstStyle/>
          <a:p>
            <a:r>
              <a:rPr lang="en-IN"/>
              <a:t>By. Akanksha Walde</a:t>
            </a:r>
          </a:p>
        </p:txBody>
      </p:sp>
      <p:sp>
        <p:nvSpPr>
          <p:cNvPr id="6" name="Slide Number Placeholder 5">
            <a:extLst>
              <a:ext uri="{FF2B5EF4-FFF2-40B4-BE49-F238E27FC236}">
                <a16:creationId xmlns:a16="http://schemas.microsoft.com/office/drawing/2014/main" id="{707D9952-4D34-D557-0938-F6EC0BFE2866}"/>
              </a:ext>
            </a:extLst>
          </p:cNvPr>
          <p:cNvSpPr>
            <a:spLocks noGrp="1"/>
          </p:cNvSpPr>
          <p:nvPr>
            <p:ph type="sldNum" sz="quarter" idx="12"/>
          </p:nvPr>
        </p:nvSpPr>
        <p:spPr/>
        <p:txBody>
          <a:bodyPr/>
          <a:lstStyle/>
          <a:p>
            <a:fld id="{7DA0EDE6-70FC-47CA-B47E-B30DAC600134}" type="slidenum">
              <a:rPr lang="en-IN" smtClean="0"/>
              <a:t>‹#›</a:t>
            </a:fld>
            <a:endParaRPr lang="en-IN"/>
          </a:p>
        </p:txBody>
      </p:sp>
    </p:spTree>
    <p:extLst>
      <p:ext uri="{BB962C8B-B14F-4D97-AF65-F5344CB8AC3E}">
        <p14:creationId xmlns:p14="http://schemas.microsoft.com/office/powerpoint/2010/main" val="1648502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5AB644-446D-7154-0845-CB0584F3BD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97E5AE-F97F-0D11-6BA6-9457AB22B8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1B3507-EE46-B82F-D960-AB1B26919366}"/>
              </a:ext>
            </a:extLst>
          </p:cNvPr>
          <p:cNvSpPr>
            <a:spLocks noGrp="1"/>
          </p:cNvSpPr>
          <p:nvPr>
            <p:ph type="dt" sz="half" idx="10"/>
          </p:nvPr>
        </p:nvSpPr>
        <p:spPr/>
        <p:txBody>
          <a:bodyPr/>
          <a:lstStyle/>
          <a:p>
            <a:fld id="{71D7B1AF-67D2-46BF-8325-25DBD5B54C95}" type="datetime1">
              <a:rPr lang="en-IN" smtClean="0"/>
              <a:t>12-11-2025</a:t>
            </a:fld>
            <a:endParaRPr lang="en-IN"/>
          </a:p>
        </p:txBody>
      </p:sp>
      <p:sp>
        <p:nvSpPr>
          <p:cNvPr id="5" name="Footer Placeholder 4">
            <a:extLst>
              <a:ext uri="{FF2B5EF4-FFF2-40B4-BE49-F238E27FC236}">
                <a16:creationId xmlns:a16="http://schemas.microsoft.com/office/drawing/2014/main" id="{6F9F8332-A066-C9C5-35B8-6464216766CE}"/>
              </a:ext>
            </a:extLst>
          </p:cNvPr>
          <p:cNvSpPr>
            <a:spLocks noGrp="1"/>
          </p:cNvSpPr>
          <p:nvPr>
            <p:ph type="ftr" sz="quarter" idx="11"/>
          </p:nvPr>
        </p:nvSpPr>
        <p:spPr/>
        <p:txBody>
          <a:bodyPr/>
          <a:lstStyle/>
          <a:p>
            <a:r>
              <a:rPr lang="en-IN"/>
              <a:t>By. Akanksha Walde</a:t>
            </a:r>
          </a:p>
        </p:txBody>
      </p:sp>
      <p:sp>
        <p:nvSpPr>
          <p:cNvPr id="6" name="Slide Number Placeholder 5">
            <a:extLst>
              <a:ext uri="{FF2B5EF4-FFF2-40B4-BE49-F238E27FC236}">
                <a16:creationId xmlns:a16="http://schemas.microsoft.com/office/drawing/2014/main" id="{1B497C2F-3F8D-D227-3C9D-DB0B32CF2E4A}"/>
              </a:ext>
            </a:extLst>
          </p:cNvPr>
          <p:cNvSpPr>
            <a:spLocks noGrp="1"/>
          </p:cNvSpPr>
          <p:nvPr>
            <p:ph type="sldNum" sz="quarter" idx="12"/>
          </p:nvPr>
        </p:nvSpPr>
        <p:spPr/>
        <p:txBody>
          <a:bodyPr/>
          <a:lstStyle/>
          <a:p>
            <a:fld id="{7DA0EDE6-70FC-47CA-B47E-B30DAC600134}" type="slidenum">
              <a:rPr lang="en-IN" smtClean="0"/>
              <a:t>‹#›</a:t>
            </a:fld>
            <a:endParaRPr lang="en-IN"/>
          </a:p>
        </p:txBody>
      </p:sp>
    </p:spTree>
    <p:extLst>
      <p:ext uri="{BB962C8B-B14F-4D97-AF65-F5344CB8AC3E}">
        <p14:creationId xmlns:p14="http://schemas.microsoft.com/office/powerpoint/2010/main" val="3711131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AC47BA-6A4C-35E0-5E6E-DD0E4FC902F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34E535-8054-3589-B0A1-A5781A437C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16B602-CB42-EC82-4A4E-0CC597DEC5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EF1F32-7C0F-4290-B5E5-A2D1C4B80954}" type="datetime1">
              <a:rPr lang="en-IN" smtClean="0"/>
              <a:t>12-11-2025</a:t>
            </a:fld>
            <a:endParaRPr lang="en-IN"/>
          </a:p>
        </p:txBody>
      </p:sp>
      <p:sp>
        <p:nvSpPr>
          <p:cNvPr id="5" name="Footer Placeholder 4">
            <a:extLst>
              <a:ext uri="{FF2B5EF4-FFF2-40B4-BE49-F238E27FC236}">
                <a16:creationId xmlns:a16="http://schemas.microsoft.com/office/drawing/2014/main" id="{86DF0FD3-582C-38C4-FE31-29CAFCC530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By. Akanksha Walde</a:t>
            </a:r>
          </a:p>
        </p:txBody>
      </p:sp>
      <p:sp>
        <p:nvSpPr>
          <p:cNvPr id="6" name="Slide Number Placeholder 5">
            <a:extLst>
              <a:ext uri="{FF2B5EF4-FFF2-40B4-BE49-F238E27FC236}">
                <a16:creationId xmlns:a16="http://schemas.microsoft.com/office/drawing/2014/main" id="{49EDAD83-87F6-FE9F-6C06-7FA89E770E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A0EDE6-70FC-47CA-B47E-B30DAC600134}" type="slidenum">
              <a:rPr lang="en-IN" smtClean="0"/>
              <a:t>‹#›</a:t>
            </a:fld>
            <a:endParaRPr lang="en-IN"/>
          </a:p>
        </p:txBody>
      </p:sp>
    </p:spTree>
    <p:extLst>
      <p:ext uri="{BB962C8B-B14F-4D97-AF65-F5344CB8AC3E}">
        <p14:creationId xmlns:p14="http://schemas.microsoft.com/office/powerpoint/2010/main" val="37924612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extLst>
              <a:ext uri="{BEBA8EAE-BF5A-486C-A8C5-ECC9F3942E4B}">
                <a14:imgProps xmlns:a14="http://schemas.microsoft.com/office/drawing/2010/main">
                  <a14:imgLayer r:embed="rId3">
                    <a14:imgEffect>
                      <a14:brightnessContrast bright="-40000" contrast="-2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5C380E-99FA-1A29-46F4-155BEB308759}"/>
              </a:ext>
            </a:extLst>
          </p:cNvPr>
          <p:cNvSpPr txBox="1"/>
          <p:nvPr/>
        </p:nvSpPr>
        <p:spPr>
          <a:xfrm>
            <a:off x="2792362" y="235974"/>
            <a:ext cx="5928852" cy="1569660"/>
          </a:xfrm>
          <a:prstGeom prst="rect">
            <a:avLst/>
          </a:prstGeom>
          <a:noFill/>
          <a:ln>
            <a:noFill/>
          </a:ln>
        </p:spPr>
        <p:txBody>
          <a:bodyPr wrap="square" rtlCol="0">
            <a:spAutoFit/>
          </a:bodyPr>
          <a:lstStyle/>
          <a:p>
            <a:pPr algn="ctr"/>
            <a:r>
              <a:rPr lang="en-IN" sz="3200" b="1" dirty="0">
                <a:effectLst/>
                <a:highlight>
                  <a:srgbClr val="C0C0C0"/>
                </a:highlight>
              </a:rPr>
              <a:t> Hospital Analysis Project         </a:t>
            </a:r>
            <a:endParaRPr lang="en-IN" sz="3200" b="0" dirty="0">
              <a:effectLst/>
              <a:highlight>
                <a:srgbClr val="C0C0C0"/>
              </a:highlight>
            </a:endParaRPr>
          </a:p>
          <a:p>
            <a:pPr algn="ctr"/>
            <a:br>
              <a:rPr lang="en-IN" sz="3200" dirty="0">
                <a:highlight>
                  <a:srgbClr val="C0C0C0"/>
                </a:highlight>
              </a:rPr>
            </a:br>
            <a:endParaRPr lang="en-IN" sz="3200" dirty="0">
              <a:highlight>
                <a:srgbClr val="C0C0C0"/>
              </a:highlight>
            </a:endParaRPr>
          </a:p>
        </p:txBody>
      </p:sp>
      <p:sp>
        <p:nvSpPr>
          <p:cNvPr id="3" name="TextBox 2">
            <a:extLst>
              <a:ext uri="{FF2B5EF4-FFF2-40B4-BE49-F238E27FC236}">
                <a16:creationId xmlns:a16="http://schemas.microsoft.com/office/drawing/2014/main" id="{E1EEE6AB-FFAC-5390-28E1-5F2D1E86FF94}"/>
              </a:ext>
            </a:extLst>
          </p:cNvPr>
          <p:cNvSpPr txBox="1"/>
          <p:nvPr/>
        </p:nvSpPr>
        <p:spPr>
          <a:xfrm>
            <a:off x="1071716" y="2281083"/>
            <a:ext cx="7197213" cy="3480620"/>
          </a:xfrm>
          <a:prstGeom prst="rect">
            <a:avLst/>
          </a:prstGeom>
          <a:noFill/>
        </p:spPr>
        <p:txBody>
          <a:bodyPr wrap="square" rtlCol="0">
            <a:spAutoFit/>
          </a:bodyPr>
          <a:lstStyle/>
          <a:p>
            <a:pPr marL="285750" indent="-285750" fontAlgn="base">
              <a:buFont typeface="Wingdings" panose="05000000000000000000" pitchFamily="2" charset="2"/>
              <a:buChar char="ü"/>
            </a:pPr>
            <a:r>
              <a:rPr lang="en-US" b="1" dirty="0"/>
              <a:t>Requirement Gathering/ Business Requirements</a:t>
            </a:r>
          </a:p>
          <a:p>
            <a:pPr marL="285750" indent="-285750" fontAlgn="base">
              <a:buFont typeface="Wingdings" panose="05000000000000000000" pitchFamily="2" charset="2"/>
              <a:buChar char="ü"/>
            </a:pPr>
            <a:r>
              <a:rPr lang="en-US" b="1" dirty="0"/>
              <a:t>Data Walkthrough</a:t>
            </a:r>
          </a:p>
          <a:p>
            <a:pPr marL="285750" indent="-285750" fontAlgn="base">
              <a:buFont typeface="Wingdings" panose="05000000000000000000" pitchFamily="2" charset="2"/>
              <a:buChar char="ü"/>
            </a:pPr>
            <a:r>
              <a:rPr lang="en-US" b="1" dirty="0"/>
              <a:t>Data Connection</a:t>
            </a:r>
          </a:p>
          <a:p>
            <a:pPr marL="285750" indent="-285750" fontAlgn="base">
              <a:buFont typeface="Wingdings" panose="05000000000000000000" pitchFamily="2" charset="2"/>
              <a:buChar char="ü"/>
            </a:pPr>
            <a:r>
              <a:rPr lang="en-US" b="1" dirty="0"/>
              <a:t>Data Cleaning / Quality Check</a:t>
            </a:r>
          </a:p>
          <a:p>
            <a:pPr marL="285750" indent="-285750" fontAlgn="base">
              <a:buFont typeface="Wingdings" panose="05000000000000000000" pitchFamily="2" charset="2"/>
              <a:buChar char="ü"/>
            </a:pPr>
            <a:r>
              <a:rPr lang="en-US" b="1" dirty="0"/>
              <a:t>Data Modeling</a:t>
            </a:r>
          </a:p>
          <a:p>
            <a:pPr marL="285750" indent="-285750" fontAlgn="base">
              <a:buFont typeface="Wingdings" panose="05000000000000000000" pitchFamily="2" charset="2"/>
              <a:buChar char="ü"/>
            </a:pPr>
            <a:r>
              <a:rPr lang="en-US" b="1" dirty="0"/>
              <a:t>Data Processing</a:t>
            </a:r>
          </a:p>
          <a:p>
            <a:pPr marL="285750" indent="-285750" fontAlgn="base">
              <a:buFont typeface="Wingdings" panose="05000000000000000000" pitchFamily="2" charset="2"/>
              <a:buChar char="ü"/>
            </a:pPr>
            <a:r>
              <a:rPr lang="en-US" b="1" dirty="0"/>
              <a:t>DAX Calculations</a:t>
            </a:r>
          </a:p>
          <a:p>
            <a:pPr marL="285750" indent="-285750" fontAlgn="base">
              <a:buFont typeface="Wingdings" panose="05000000000000000000" pitchFamily="2" charset="2"/>
              <a:buChar char="ü"/>
            </a:pPr>
            <a:r>
              <a:rPr lang="en-US" b="1" dirty="0"/>
              <a:t>Dashboard Lay outing</a:t>
            </a:r>
          </a:p>
          <a:p>
            <a:pPr marL="285750" indent="-285750" fontAlgn="base">
              <a:buFont typeface="Wingdings" panose="05000000000000000000" pitchFamily="2" charset="2"/>
              <a:buChar char="ü"/>
            </a:pPr>
            <a:r>
              <a:rPr lang="en-US" b="1" dirty="0"/>
              <a:t>Charts Development and Formatting</a:t>
            </a:r>
          </a:p>
          <a:p>
            <a:pPr marL="285750" indent="-285750" fontAlgn="base">
              <a:buFont typeface="Wingdings" panose="05000000000000000000" pitchFamily="2" charset="2"/>
              <a:buChar char="ü"/>
            </a:pPr>
            <a:r>
              <a:rPr lang="en-US" b="1" dirty="0"/>
              <a:t>Dashboard / Report Development</a:t>
            </a:r>
          </a:p>
          <a:p>
            <a:pPr marL="285750" indent="-285750" fontAlgn="base">
              <a:buFont typeface="Wingdings" panose="05000000000000000000" pitchFamily="2" charset="2"/>
              <a:buChar char="ü"/>
            </a:pPr>
            <a:r>
              <a:rPr lang="en-US" b="1" dirty="0"/>
              <a:t>Insights Generation</a:t>
            </a:r>
          </a:p>
          <a:p>
            <a:endParaRPr lang="en-IN" dirty="0"/>
          </a:p>
        </p:txBody>
      </p:sp>
      <p:sp>
        <p:nvSpPr>
          <p:cNvPr id="4" name="TextBox 3">
            <a:extLst>
              <a:ext uri="{FF2B5EF4-FFF2-40B4-BE49-F238E27FC236}">
                <a16:creationId xmlns:a16="http://schemas.microsoft.com/office/drawing/2014/main" id="{D1F112B4-FF26-A964-CC09-4D2984B45DF1}"/>
              </a:ext>
            </a:extLst>
          </p:cNvPr>
          <p:cNvSpPr txBox="1"/>
          <p:nvPr/>
        </p:nvSpPr>
        <p:spPr>
          <a:xfrm>
            <a:off x="1268360" y="1726975"/>
            <a:ext cx="3470787" cy="923330"/>
          </a:xfrm>
          <a:prstGeom prst="rect">
            <a:avLst/>
          </a:prstGeom>
          <a:noFill/>
        </p:spPr>
        <p:txBody>
          <a:bodyPr wrap="square" rtlCol="0">
            <a:spAutoFit/>
          </a:bodyPr>
          <a:lstStyle/>
          <a:p>
            <a:r>
              <a:rPr lang="en-IN" b="1" dirty="0"/>
              <a:t>STEPS IN PROJECT :</a:t>
            </a:r>
            <a:endParaRPr lang="en-IN" b="0" dirty="0">
              <a:effectLst/>
            </a:endParaRPr>
          </a:p>
          <a:p>
            <a:br>
              <a:rPr lang="en-IN" dirty="0"/>
            </a:br>
            <a:endParaRPr lang="en-IN" dirty="0"/>
          </a:p>
        </p:txBody>
      </p:sp>
      <p:sp>
        <p:nvSpPr>
          <p:cNvPr id="6" name="TextBox 5">
            <a:extLst>
              <a:ext uri="{FF2B5EF4-FFF2-40B4-BE49-F238E27FC236}">
                <a16:creationId xmlns:a16="http://schemas.microsoft.com/office/drawing/2014/main" id="{36FBC28C-E98A-E6A1-0C7C-60B828774170}"/>
              </a:ext>
            </a:extLst>
          </p:cNvPr>
          <p:cNvSpPr txBox="1"/>
          <p:nvPr/>
        </p:nvSpPr>
        <p:spPr>
          <a:xfrm>
            <a:off x="8357419" y="6131035"/>
            <a:ext cx="3569110" cy="369332"/>
          </a:xfrm>
          <a:prstGeom prst="rect">
            <a:avLst/>
          </a:prstGeom>
          <a:noFill/>
        </p:spPr>
        <p:txBody>
          <a:bodyPr wrap="square" rtlCol="0">
            <a:spAutoFit/>
          </a:bodyPr>
          <a:lstStyle/>
          <a:p>
            <a:r>
              <a:rPr lang="en-IN" dirty="0"/>
              <a:t>By. Akanksha Walde</a:t>
            </a:r>
          </a:p>
        </p:txBody>
      </p:sp>
    </p:spTree>
    <p:extLst>
      <p:ext uri="{BB962C8B-B14F-4D97-AF65-F5344CB8AC3E}">
        <p14:creationId xmlns:p14="http://schemas.microsoft.com/office/powerpoint/2010/main" val="21372881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extLst>
              <a:ext uri="{BEBA8EAE-BF5A-486C-A8C5-ECC9F3942E4B}">
                <a14:imgProps xmlns:a14="http://schemas.microsoft.com/office/drawing/2010/main">
                  <a14:imgLayer r:embed="rId3">
                    <a14:imgEffect>
                      <a14:brightnessContrast bright="-40000" contrast="-20000"/>
                    </a14:imgEffect>
                  </a14:imgLayer>
                </a14:imgProps>
              </a:ext>
            </a:extLst>
          </a:blip>
          <a:srcRect/>
          <a:stretch>
            <a:fillRect/>
          </a:stretch>
        </a:blipFill>
        <a:effectLst/>
      </p:bgPr>
    </p:bg>
    <p:spTree>
      <p:nvGrpSpPr>
        <p:cNvPr id="1" name="">
          <a:extLst>
            <a:ext uri="{FF2B5EF4-FFF2-40B4-BE49-F238E27FC236}">
              <a16:creationId xmlns:a16="http://schemas.microsoft.com/office/drawing/2014/main" id="{2FE30080-38B0-5E8A-7F28-80D76AAC8FF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1099BD8-C81A-1B3F-7DD1-43248958C372}"/>
              </a:ext>
            </a:extLst>
          </p:cNvPr>
          <p:cNvSpPr txBox="1"/>
          <p:nvPr/>
        </p:nvSpPr>
        <p:spPr>
          <a:xfrm>
            <a:off x="2792362" y="235974"/>
            <a:ext cx="5928852" cy="1569660"/>
          </a:xfrm>
          <a:prstGeom prst="rect">
            <a:avLst/>
          </a:prstGeom>
          <a:noFill/>
          <a:ln>
            <a:noFill/>
          </a:ln>
        </p:spPr>
        <p:txBody>
          <a:bodyPr wrap="square" rtlCol="0">
            <a:spAutoFit/>
          </a:bodyPr>
          <a:lstStyle/>
          <a:p>
            <a:pPr algn="ctr"/>
            <a:r>
              <a:rPr lang="en-IN" sz="3200" b="1" dirty="0">
                <a:effectLst/>
                <a:highlight>
                  <a:srgbClr val="C0C0C0"/>
                </a:highlight>
              </a:rPr>
              <a:t> Hospital Analysis Project         </a:t>
            </a:r>
            <a:endParaRPr lang="en-IN" sz="3200" b="0" dirty="0">
              <a:effectLst/>
              <a:highlight>
                <a:srgbClr val="C0C0C0"/>
              </a:highlight>
            </a:endParaRPr>
          </a:p>
          <a:p>
            <a:pPr algn="ctr"/>
            <a:br>
              <a:rPr lang="en-IN" sz="3200" dirty="0">
                <a:highlight>
                  <a:srgbClr val="C0C0C0"/>
                </a:highlight>
              </a:rPr>
            </a:br>
            <a:endParaRPr lang="en-IN" sz="3200" dirty="0">
              <a:highlight>
                <a:srgbClr val="C0C0C0"/>
              </a:highlight>
            </a:endParaRPr>
          </a:p>
        </p:txBody>
      </p:sp>
      <p:sp>
        <p:nvSpPr>
          <p:cNvPr id="3" name="TextBox 2">
            <a:extLst>
              <a:ext uri="{FF2B5EF4-FFF2-40B4-BE49-F238E27FC236}">
                <a16:creationId xmlns:a16="http://schemas.microsoft.com/office/drawing/2014/main" id="{15184E53-2104-A15E-4243-48D8C45C6F73}"/>
              </a:ext>
            </a:extLst>
          </p:cNvPr>
          <p:cNvSpPr txBox="1"/>
          <p:nvPr/>
        </p:nvSpPr>
        <p:spPr>
          <a:xfrm>
            <a:off x="1052052" y="2281083"/>
            <a:ext cx="7216877" cy="1477327"/>
          </a:xfrm>
          <a:prstGeom prst="rect">
            <a:avLst/>
          </a:prstGeom>
          <a:noFill/>
        </p:spPr>
        <p:txBody>
          <a:bodyPr wrap="square" rtlCol="0">
            <a:spAutoFit/>
          </a:bodyPr>
          <a:lstStyle/>
          <a:p>
            <a:pPr marL="342900" indent="-342900" fontAlgn="base">
              <a:buFont typeface="+mj-lt"/>
              <a:buAutoNum type="arabicPeriod"/>
            </a:pPr>
            <a:r>
              <a:rPr lang="en-US" b="1" dirty="0"/>
              <a:t>Monthly View</a:t>
            </a:r>
          </a:p>
          <a:p>
            <a:pPr marL="342900" indent="-342900" fontAlgn="base">
              <a:buFont typeface="+mj-lt"/>
              <a:buAutoNum type="arabicPeriod"/>
            </a:pPr>
            <a:r>
              <a:rPr lang="en-US" b="1" dirty="0"/>
              <a:t>Consolidated View</a:t>
            </a:r>
          </a:p>
          <a:p>
            <a:pPr marL="342900" indent="-342900" fontAlgn="base">
              <a:buFont typeface="+mj-lt"/>
              <a:buAutoNum type="arabicPeriod"/>
            </a:pPr>
            <a:r>
              <a:rPr lang="en-US" b="1" dirty="0"/>
              <a:t>Patient Details</a:t>
            </a:r>
          </a:p>
          <a:p>
            <a:pPr marL="342900" indent="-342900" fontAlgn="base">
              <a:buFont typeface="+mj-lt"/>
              <a:buAutoNum type="arabicPeriod"/>
            </a:pPr>
            <a:r>
              <a:rPr lang="en-US" b="1" dirty="0"/>
              <a:t>Key Takeaways</a:t>
            </a:r>
          </a:p>
          <a:p>
            <a:endParaRPr lang="en-IN" dirty="0"/>
          </a:p>
        </p:txBody>
      </p:sp>
      <p:sp>
        <p:nvSpPr>
          <p:cNvPr id="4" name="TextBox 3">
            <a:extLst>
              <a:ext uri="{FF2B5EF4-FFF2-40B4-BE49-F238E27FC236}">
                <a16:creationId xmlns:a16="http://schemas.microsoft.com/office/drawing/2014/main" id="{1EF8B090-7FB3-9140-009B-5A7930F19364}"/>
              </a:ext>
            </a:extLst>
          </p:cNvPr>
          <p:cNvSpPr txBox="1"/>
          <p:nvPr/>
        </p:nvSpPr>
        <p:spPr>
          <a:xfrm>
            <a:off x="1268360" y="1726975"/>
            <a:ext cx="3470787" cy="923330"/>
          </a:xfrm>
          <a:prstGeom prst="rect">
            <a:avLst/>
          </a:prstGeom>
          <a:noFill/>
        </p:spPr>
        <p:txBody>
          <a:bodyPr wrap="square" rtlCol="0">
            <a:spAutoFit/>
          </a:bodyPr>
          <a:lstStyle/>
          <a:p>
            <a:r>
              <a:rPr lang="en-IN" b="1" dirty="0"/>
              <a:t>DASHBOARD - 4 :</a:t>
            </a:r>
            <a:endParaRPr lang="en-IN" b="0" dirty="0">
              <a:effectLst/>
            </a:endParaRPr>
          </a:p>
          <a:p>
            <a:br>
              <a:rPr lang="en-IN" dirty="0"/>
            </a:br>
            <a:endParaRPr lang="en-IN" dirty="0"/>
          </a:p>
        </p:txBody>
      </p:sp>
    </p:spTree>
    <p:extLst>
      <p:ext uri="{BB962C8B-B14F-4D97-AF65-F5344CB8AC3E}">
        <p14:creationId xmlns:p14="http://schemas.microsoft.com/office/powerpoint/2010/main" val="1793786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extLst>
              <a:ext uri="{BEBA8EAE-BF5A-486C-A8C5-ECC9F3942E4B}">
                <a14:imgProps xmlns:a14="http://schemas.microsoft.com/office/drawing/2010/main">
                  <a14:imgLayer r:embed="rId3">
                    <a14:imgEffect>
                      <a14:brightnessContrast bright="-40000" contrast="-20000"/>
                    </a14:imgEffect>
                  </a14:imgLayer>
                </a14:imgProps>
              </a:ext>
            </a:extLst>
          </a:blip>
          <a:srcRect/>
          <a:stretch>
            <a:fillRect/>
          </a:stretch>
        </a:blipFill>
        <a:effectLst/>
      </p:bgPr>
    </p:bg>
    <p:spTree>
      <p:nvGrpSpPr>
        <p:cNvPr id="1" name="">
          <a:extLst>
            <a:ext uri="{FF2B5EF4-FFF2-40B4-BE49-F238E27FC236}">
              <a16:creationId xmlns:a16="http://schemas.microsoft.com/office/drawing/2014/main" id="{F96E8289-9806-C0D9-6D38-04039F4329C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64F98D0-CD1E-68CA-05A8-7D1023FA104E}"/>
              </a:ext>
            </a:extLst>
          </p:cNvPr>
          <p:cNvSpPr txBox="1"/>
          <p:nvPr/>
        </p:nvSpPr>
        <p:spPr>
          <a:xfrm>
            <a:off x="2792362" y="235974"/>
            <a:ext cx="5928852" cy="1569660"/>
          </a:xfrm>
          <a:prstGeom prst="rect">
            <a:avLst/>
          </a:prstGeom>
          <a:noFill/>
          <a:ln>
            <a:noFill/>
          </a:ln>
        </p:spPr>
        <p:txBody>
          <a:bodyPr wrap="square" rtlCol="0">
            <a:spAutoFit/>
          </a:bodyPr>
          <a:lstStyle/>
          <a:p>
            <a:pPr algn="ctr"/>
            <a:r>
              <a:rPr lang="en-IN" sz="3200" b="1" dirty="0">
                <a:effectLst/>
                <a:highlight>
                  <a:srgbClr val="C0C0C0"/>
                </a:highlight>
              </a:rPr>
              <a:t> Hospital Analysis Project         </a:t>
            </a:r>
            <a:endParaRPr lang="en-IN" sz="3200" b="0" dirty="0">
              <a:effectLst/>
              <a:highlight>
                <a:srgbClr val="C0C0C0"/>
              </a:highlight>
            </a:endParaRPr>
          </a:p>
          <a:p>
            <a:pPr algn="ctr"/>
            <a:br>
              <a:rPr lang="en-IN" sz="3200" dirty="0">
                <a:highlight>
                  <a:srgbClr val="C0C0C0"/>
                </a:highlight>
              </a:rPr>
            </a:br>
            <a:endParaRPr lang="en-IN" sz="3200" dirty="0">
              <a:highlight>
                <a:srgbClr val="C0C0C0"/>
              </a:highlight>
            </a:endParaRPr>
          </a:p>
        </p:txBody>
      </p:sp>
      <p:sp>
        <p:nvSpPr>
          <p:cNvPr id="3" name="TextBox 2">
            <a:extLst>
              <a:ext uri="{FF2B5EF4-FFF2-40B4-BE49-F238E27FC236}">
                <a16:creationId xmlns:a16="http://schemas.microsoft.com/office/drawing/2014/main" id="{02F544EF-DBC9-D01E-C99A-772FF324FC3F}"/>
              </a:ext>
            </a:extLst>
          </p:cNvPr>
          <p:cNvSpPr txBox="1"/>
          <p:nvPr/>
        </p:nvSpPr>
        <p:spPr>
          <a:xfrm>
            <a:off x="919318" y="2282376"/>
            <a:ext cx="10840063" cy="4739759"/>
          </a:xfrm>
          <a:prstGeom prst="rect">
            <a:avLst/>
          </a:prstGeom>
          <a:noFill/>
        </p:spPr>
        <p:txBody>
          <a:bodyPr wrap="square" rtlCol="0">
            <a:spAutoFit/>
          </a:bodyPr>
          <a:lstStyle/>
          <a:p>
            <a:pPr marL="285750" indent="-285750" fontAlgn="base">
              <a:buFont typeface="Wingdings" panose="05000000000000000000" pitchFamily="2" charset="2"/>
              <a:buChar char="Ø"/>
            </a:pPr>
            <a:r>
              <a:rPr lang="en-US" sz="1600" b="1" dirty="0"/>
              <a:t>Number of Patients</a:t>
            </a:r>
            <a:r>
              <a:rPr lang="en-US" sz="1600" dirty="0"/>
              <a:t>:</a:t>
            </a:r>
            <a:endParaRPr lang="en-US" sz="1600" b="1" dirty="0"/>
          </a:p>
          <a:p>
            <a:r>
              <a:rPr lang="en-US" sz="1600" dirty="0"/>
              <a:t>Measure the total number of patients visiting the Hospital daily.</a:t>
            </a:r>
            <a:endParaRPr lang="en-US" sz="1600" b="0" dirty="0">
              <a:effectLst/>
            </a:endParaRPr>
          </a:p>
          <a:p>
            <a:r>
              <a:rPr lang="en-US" sz="1600" dirty="0"/>
              <a:t>Display a daily trend using an area sparkline to understand patterns over time, such as peak days or seasonal trends.</a:t>
            </a:r>
            <a:endParaRPr lang="en-US" sz="1600" b="0" dirty="0">
              <a:effectLst/>
            </a:endParaRPr>
          </a:p>
          <a:p>
            <a:pPr marL="285750" indent="-285750" fontAlgn="base">
              <a:buFont typeface="Wingdings" panose="05000000000000000000" pitchFamily="2" charset="2"/>
              <a:buChar char="Ø"/>
            </a:pPr>
            <a:r>
              <a:rPr lang="en-US" sz="1600" b="1" dirty="0"/>
              <a:t>Average Wait Time</a:t>
            </a:r>
            <a:r>
              <a:rPr lang="en-US" sz="1600" dirty="0"/>
              <a:t>:</a:t>
            </a:r>
            <a:endParaRPr lang="en-US" sz="1600" b="1" dirty="0"/>
          </a:p>
          <a:p>
            <a:r>
              <a:rPr lang="en-US" sz="1600" dirty="0"/>
              <a:t>Calculate the average time patients wait before being attended to by a medical professional.</a:t>
            </a:r>
            <a:endParaRPr lang="en-US" sz="1600" b="0" dirty="0">
              <a:effectLst/>
            </a:endParaRPr>
          </a:p>
          <a:p>
            <a:r>
              <a:rPr lang="en-US" sz="1600" dirty="0"/>
              <a:t>Use an area sparkline to show daily fluctuations and identify days with higher wait times that may require operational adjustments.</a:t>
            </a:r>
            <a:endParaRPr lang="en-US" sz="1600" b="0" dirty="0">
              <a:effectLst/>
            </a:endParaRPr>
          </a:p>
          <a:p>
            <a:pPr marL="285750" indent="-285750" fontAlgn="base">
              <a:buFont typeface="Wingdings" panose="05000000000000000000" pitchFamily="2" charset="2"/>
              <a:buChar char="Ø"/>
            </a:pPr>
            <a:r>
              <a:rPr lang="en-US" sz="1600" b="1" dirty="0"/>
              <a:t>Patient Satisfaction Score</a:t>
            </a:r>
            <a:r>
              <a:rPr lang="en-US" sz="1600" dirty="0"/>
              <a:t>:</a:t>
            </a:r>
            <a:endParaRPr lang="en-US" sz="1600" b="1" dirty="0"/>
          </a:p>
          <a:p>
            <a:r>
              <a:rPr lang="en-US" sz="1600" dirty="0"/>
              <a:t>Analyze the average satisfaction score of patients on a daily basis to evaluate the quality of service provided.</a:t>
            </a:r>
            <a:endParaRPr lang="en-US" sz="1600" b="0" dirty="0">
              <a:effectLst/>
            </a:endParaRPr>
          </a:p>
          <a:p>
            <a:r>
              <a:rPr lang="en-US" sz="1600" dirty="0"/>
              <a:t>Present a daily trend using an area sparkline to identify dips in satisfaction and correlate them with operational challenges or peak times.</a:t>
            </a:r>
            <a:endParaRPr lang="en-US" sz="1600" b="0" dirty="0">
              <a:effectLst/>
            </a:endParaRPr>
          </a:p>
          <a:p>
            <a:pPr marL="285750" indent="-285750" fontAlgn="base">
              <a:buFont typeface="Wingdings" panose="05000000000000000000" pitchFamily="2" charset="2"/>
              <a:buChar char="Ø"/>
            </a:pPr>
            <a:r>
              <a:rPr lang="en-US" sz="1600" b="1" dirty="0"/>
              <a:t>Number of Patients Referred</a:t>
            </a:r>
            <a:r>
              <a:rPr lang="en-US" sz="1600" dirty="0"/>
              <a:t>:</a:t>
            </a:r>
            <a:endParaRPr lang="en-US" sz="1600" b="1" dirty="0"/>
          </a:p>
          <a:p>
            <a:r>
              <a:rPr lang="en-US" sz="1600" dirty="0"/>
              <a:t>Count the number of patients referred to specific departments from the </a:t>
            </a:r>
            <a:r>
              <a:rPr lang="en-US" sz="1600" dirty="0" err="1"/>
              <a:t>Hspital</a:t>
            </a:r>
            <a:r>
              <a:rPr lang="en-US" sz="1600" dirty="0"/>
              <a:t> each day.</a:t>
            </a:r>
            <a:endParaRPr lang="en-US" sz="1600" b="0" dirty="0">
              <a:effectLst/>
            </a:endParaRPr>
          </a:p>
          <a:p>
            <a:r>
              <a:rPr lang="en-US" sz="1600" dirty="0"/>
              <a:t>Use an area sparkline to track daily trends and identify departments with high referral rates, which may require additional resources.</a:t>
            </a:r>
            <a:endParaRPr lang="en-US" sz="1600" b="0" dirty="0">
              <a:effectLst/>
            </a:endParaRPr>
          </a:p>
          <a:p>
            <a:br>
              <a:rPr lang="en-US" dirty="0"/>
            </a:br>
            <a:br>
              <a:rPr lang="en-US" dirty="0"/>
            </a:br>
            <a:endParaRPr lang="en-IN" dirty="0"/>
          </a:p>
        </p:txBody>
      </p:sp>
      <p:sp>
        <p:nvSpPr>
          <p:cNvPr id="4" name="TextBox 3">
            <a:extLst>
              <a:ext uri="{FF2B5EF4-FFF2-40B4-BE49-F238E27FC236}">
                <a16:creationId xmlns:a16="http://schemas.microsoft.com/office/drawing/2014/main" id="{72094990-B378-02C8-593D-5FA48ACA06CC}"/>
              </a:ext>
            </a:extLst>
          </p:cNvPr>
          <p:cNvSpPr txBox="1"/>
          <p:nvPr/>
        </p:nvSpPr>
        <p:spPr>
          <a:xfrm>
            <a:off x="1056968" y="842974"/>
            <a:ext cx="3470787" cy="923330"/>
          </a:xfrm>
          <a:prstGeom prst="rect">
            <a:avLst/>
          </a:prstGeom>
          <a:noFill/>
        </p:spPr>
        <p:txBody>
          <a:bodyPr wrap="square" rtlCol="0">
            <a:spAutoFit/>
          </a:bodyPr>
          <a:lstStyle/>
          <a:p>
            <a:r>
              <a:rPr lang="en-IN" b="1" dirty="0"/>
              <a:t>BUSINESS REQUIREMENTS:</a:t>
            </a:r>
            <a:endParaRPr lang="en-IN" b="0" dirty="0">
              <a:effectLst/>
            </a:endParaRPr>
          </a:p>
          <a:p>
            <a:br>
              <a:rPr lang="en-IN" dirty="0"/>
            </a:br>
            <a:endParaRPr lang="en-IN" dirty="0"/>
          </a:p>
        </p:txBody>
      </p:sp>
      <p:sp>
        <p:nvSpPr>
          <p:cNvPr id="5" name="TextBox 4">
            <a:extLst>
              <a:ext uri="{FF2B5EF4-FFF2-40B4-BE49-F238E27FC236}">
                <a16:creationId xmlns:a16="http://schemas.microsoft.com/office/drawing/2014/main" id="{9CBAD335-7261-963F-D4C6-428864860F28}"/>
              </a:ext>
            </a:extLst>
          </p:cNvPr>
          <p:cNvSpPr txBox="1"/>
          <p:nvPr/>
        </p:nvSpPr>
        <p:spPr>
          <a:xfrm>
            <a:off x="1056969" y="1489304"/>
            <a:ext cx="10584426" cy="738664"/>
          </a:xfrm>
          <a:prstGeom prst="rect">
            <a:avLst/>
          </a:prstGeom>
          <a:noFill/>
        </p:spPr>
        <p:txBody>
          <a:bodyPr wrap="square" rtlCol="0">
            <a:spAutoFit/>
          </a:bodyPr>
          <a:lstStyle/>
          <a:p>
            <a:r>
              <a:rPr lang="en-US" sz="1400" b="1" dirty="0"/>
              <a:t>To enhance operational efficiency and provide actionable insights into Hospital performance, we need to create a Hospital Analysis Dashboard in Power BI. This solution will enable stakeholders to track, analyze, and make data-driven decisions regarding patient management and service optimization.</a:t>
            </a:r>
            <a:endParaRPr lang="en-IN" sz="1400" dirty="0"/>
          </a:p>
        </p:txBody>
      </p:sp>
      <p:sp>
        <p:nvSpPr>
          <p:cNvPr id="6" name="TextBox 5">
            <a:extLst>
              <a:ext uri="{FF2B5EF4-FFF2-40B4-BE49-F238E27FC236}">
                <a16:creationId xmlns:a16="http://schemas.microsoft.com/office/drawing/2014/main" id="{A42673D7-4BFB-09BE-DD0B-500114DDC048}"/>
              </a:ext>
            </a:extLst>
          </p:cNvPr>
          <p:cNvSpPr txBox="1"/>
          <p:nvPr/>
        </p:nvSpPr>
        <p:spPr>
          <a:xfrm>
            <a:off x="1056968" y="1119973"/>
            <a:ext cx="2021515" cy="369332"/>
          </a:xfrm>
          <a:prstGeom prst="rect">
            <a:avLst/>
          </a:prstGeom>
          <a:noFill/>
        </p:spPr>
        <p:txBody>
          <a:bodyPr wrap="none" rtlCol="0">
            <a:spAutoFit/>
          </a:bodyPr>
          <a:lstStyle/>
          <a:p>
            <a:r>
              <a:rPr lang="en-IN" b="1" dirty="0"/>
              <a:t>KPI’s Requirements</a:t>
            </a:r>
            <a:endParaRPr lang="en-IN" dirty="0"/>
          </a:p>
        </p:txBody>
      </p:sp>
    </p:spTree>
    <p:extLst>
      <p:ext uri="{BB962C8B-B14F-4D97-AF65-F5344CB8AC3E}">
        <p14:creationId xmlns:p14="http://schemas.microsoft.com/office/powerpoint/2010/main" val="735462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extLst>
              <a:ext uri="{BEBA8EAE-BF5A-486C-A8C5-ECC9F3942E4B}">
                <a14:imgProps xmlns:a14="http://schemas.microsoft.com/office/drawing/2010/main">
                  <a14:imgLayer r:embed="rId3">
                    <a14:imgEffect>
                      <a14:brightnessContrast bright="-40000" contrast="-20000"/>
                    </a14:imgEffect>
                  </a14:imgLayer>
                </a14:imgProps>
              </a:ext>
            </a:extLst>
          </a:blip>
          <a:srcRect/>
          <a:stretch>
            <a:fillRect/>
          </a:stretch>
        </a:blipFill>
        <a:effectLst/>
      </p:bgPr>
    </p:bg>
    <p:spTree>
      <p:nvGrpSpPr>
        <p:cNvPr id="1" name="">
          <a:extLst>
            <a:ext uri="{FF2B5EF4-FFF2-40B4-BE49-F238E27FC236}">
              <a16:creationId xmlns:a16="http://schemas.microsoft.com/office/drawing/2014/main" id="{23DAD763-BA09-C3F2-FB23-F7D9C8E4D9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48CF3D7-7B3B-E074-16AE-F722D7F44FEC}"/>
              </a:ext>
            </a:extLst>
          </p:cNvPr>
          <p:cNvSpPr txBox="1"/>
          <p:nvPr/>
        </p:nvSpPr>
        <p:spPr>
          <a:xfrm>
            <a:off x="2792362" y="235974"/>
            <a:ext cx="5928852" cy="1569660"/>
          </a:xfrm>
          <a:prstGeom prst="rect">
            <a:avLst/>
          </a:prstGeom>
          <a:noFill/>
          <a:ln>
            <a:noFill/>
          </a:ln>
        </p:spPr>
        <p:txBody>
          <a:bodyPr wrap="square" rtlCol="0">
            <a:spAutoFit/>
          </a:bodyPr>
          <a:lstStyle/>
          <a:p>
            <a:pPr algn="ctr"/>
            <a:r>
              <a:rPr lang="en-IN" sz="3200" b="1" dirty="0">
                <a:effectLst/>
                <a:highlight>
                  <a:srgbClr val="C0C0C0"/>
                </a:highlight>
              </a:rPr>
              <a:t> Hospital Analysis Project         </a:t>
            </a:r>
            <a:endParaRPr lang="en-IN" sz="3200" b="0" dirty="0">
              <a:effectLst/>
              <a:highlight>
                <a:srgbClr val="C0C0C0"/>
              </a:highlight>
            </a:endParaRPr>
          </a:p>
          <a:p>
            <a:pPr algn="ctr"/>
            <a:br>
              <a:rPr lang="en-IN" sz="3200" dirty="0">
                <a:highlight>
                  <a:srgbClr val="C0C0C0"/>
                </a:highlight>
              </a:rPr>
            </a:br>
            <a:endParaRPr lang="en-IN" sz="3200" dirty="0">
              <a:highlight>
                <a:srgbClr val="C0C0C0"/>
              </a:highlight>
            </a:endParaRPr>
          </a:p>
        </p:txBody>
      </p:sp>
      <p:sp>
        <p:nvSpPr>
          <p:cNvPr id="3" name="TextBox 2">
            <a:extLst>
              <a:ext uri="{FF2B5EF4-FFF2-40B4-BE49-F238E27FC236}">
                <a16:creationId xmlns:a16="http://schemas.microsoft.com/office/drawing/2014/main" id="{FD848D3C-7E6E-6892-E26B-51DD992D1BC8}"/>
              </a:ext>
            </a:extLst>
          </p:cNvPr>
          <p:cNvSpPr txBox="1"/>
          <p:nvPr/>
        </p:nvSpPr>
        <p:spPr>
          <a:xfrm>
            <a:off x="919318" y="2282376"/>
            <a:ext cx="10840063" cy="3693319"/>
          </a:xfrm>
          <a:prstGeom prst="rect">
            <a:avLst/>
          </a:prstGeom>
          <a:noFill/>
        </p:spPr>
        <p:txBody>
          <a:bodyPr wrap="square" rtlCol="0">
            <a:spAutoFit/>
          </a:bodyPr>
          <a:lstStyle/>
          <a:p>
            <a:pPr marL="285750" indent="-285750">
              <a:buFont typeface="Wingdings" panose="05000000000000000000" pitchFamily="2" charset="2"/>
              <a:buChar char="Ø"/>
            </a:pPr>
            <a:r>
              <a:rPr lang="en-US" b="1" dirty="0"/>
              <a:t>Objective: </a:t>
            </a:r>
            <a:r>
              <a:rPr lang="en-US" dirty="0"/>
              <a:t>Monitor key metrics and trends on a month-by-month basis to identify patterns and areas for improvement.</a:t>
            </a:r>
          </a:p>
          <a:p>
            <a:endParaRPr lang="en-US" dirty="0">
              <a:effectLst/>
            </a:endParaRPr>
          </a:p>
          <a:p>
            <a:pPr marL="285750" indent="-285750">
              <a:buFont typeface="Wingdings" panose="05000000000000000000" pitchFamily="2" charset="2"/>
              <a:buChar char="Ø"/>
            </a:pPr>
            <a:r>
              <a:rPr lang="en-US" b="1" dirty="0"/>
              <a:t>Charts to Develop:</a:t>
            </a:r>
            <a:endParaRPr lang="en-US" b="0" dirty="0">
              <a:effectLst/>
            </a:endParaRPr>
          </a:p>
          <a:p>
            <a:pPr marL="742950" lvl="1" indent="-285750" fontAlgn="base">
              <a:buFont typeface="Arial" panose="020B0604020202020204" pitchFamily="34" charset="0"/>
              <a:buChar char="•"/>
            </a:pPr>
            <a:r>
              <a:rPr lang="en-US" dirty="0"/>
              <a:t>Patient Admission Status: Track admitted vs. non-admitted patients.</a:t>
            </a:r>
          </a:p>
          <a:p>
            <a:pPr marL="742950" lvl="1" indent="-285750" fontAlgn="base">
              <a:buFont typeface="Arial" panose="020B0604020202020204" pitchFamily="34" charset="0"/>
              <a:buChar char="•"/>
            </a:pPr>
            <a:r>
              <a:rPr lang="en-US" dirty="0"/>
              <a:t>Patient Age Distribution: Group patients by 10-year age intervals.</a:t>
            </a:r>
          </a:p>
          <a:p>
            <a:pPr marL="742950" lvl="1" indent="-285750" fontAlgn="base">
              <a:buFont typeface="Arial" panose="020B0604020202020204" pitchFamily="34" charset="0"/>
              <a:buChar char="•"/>
            </a:pPr>
            <a:r>
              <a:rPr lang="en-US" dirty="0"/>
              <a:t>Department Referrals: Analyze referral trends across different departments.</a:t>
            </a:r>
          </a:p>
          <a:p>
            <a:pPr marL="742950" lvl="1" indent="-285750" fontAlgn="base">
              <a:buFont typeface="Arial" panose="020B0604020202020204" pitchFamily="34" charset="0"/>
              <a:buChar char="•"/>
            </a:pPr>
            <a:r>
              <a:rPr lang="en-US" dirty="0"/>
              <a:t>Gender Analysis: Visualize patient distribution by gender.</a:t>
            </a:r>
          </a:p>
          <a:p>
            <a:pPr marL="742950" lvl="1" indent="-285750" fontAlgn="base">
              <a:buFont typeface="Arial" panose="020B0604020202020204" pitchFamily="34" charset="0"/>
              <a:buChar char="•"/>
            </a:pPr>
            <a:r>
              <a:rPr lang="en-US" dirty="0"/>
              <a:t>Racial Demographics: Analyze patient data by race.</a:t>
            </a:r>
          </a:p>
          <a:p>
            <a:pPr marL="742950" lvl="1" indent="-285750" fontAlgn="base">
              <a:buFont typeface="Arial" panose="020B0604020202020204" pitchFamily="34" charset="0"/>
              <a:buChar char="•"/>
            </a:pPr>
            <a:r>
              <a:rPr lang="en-US" dirty="0"/>
              <a:t>Time Analysis: Assess patient volume by day and hour.</a:t>
            </a:r>
          </a:p>
          <a:p>
            <a:br>
              <a:rPr lang="en-US" dirty="0"/>
            </a:br>
            <a:br>
              <a:rPr lang="en-US" dirty="0"/>
            </a:br>
            <a:endParaRPr lang="en-IN" dirty="0"/>
          </a:p>
        </p:txBody>
      </p:sp>
      <p:sp>
        <p:nvSpPr>
          <p:cNvPr id="4" name="TextBox 3">
            <a:extLst>
              <a:ext uri="{FF2B5EF4-FFF2-40B4-BE49-F238E27FC236}">
                <a16:creationId xmlns:a16="http://schemas.microsoft.com/office/drawing/2014/main" id="{CAC6ACC4-099C-7B3C-C40C-5E79B9BABDFE}"/>
              </a:ext>
            </a:extLst>
          </p:cNvPr>
          <p:cNvSpPr txBox="1"/>
          <p:nvPr/>
        </p:nvSpPr>
        <p:spPr>
          <a:xfrm>
            <a:off x="1156819" y="1020804"/>
            <a:ext cx="3470787" cy="923330"/>
          </a:xfrm>
          <a:prstGeom prst="rect">
            <a:avLst/>
          </a:prstGeom>
          <a:noFill/>
        </p:spPr>
        <p:txBody>
          <a:bodyPr wrap="square" rtlCol="0">
            <a:spAutoFit/>
          </a:bodyPr>
          <a:lstStyle/>
          <a:p>
            <a:r>
              <a:rPr lang="en-IN" b="1" dirty="0"/>
              <a:t>BUSINESS REQUIREMENTS:</a:t>
            </a:r>
            <a:endParaRPr lang="en-IN" b="0" dirty="0">
              <a:effectLst/>
            </a:endParaRPr>
          </a:p>
          <a:p>
            <a:br>
              <a:rPr lang="en-IN" dirty="0"/>
            </a:br>
            <a:endParaRPr lang="en-IN" dirty="0"/>
          </a:p>
        </p:txBody>
      </p:sp>
      <p:sp>
        <p:nvSpPr>
          <p:cNvPr id="6" name="TextBox 5">
            <a:extLst>
              <a:ext uri="{FF2B5EF4-FFF2-40B4-BE49-F238E27FC236}">
                <a16:creationId xmlns:a16="http://schemas.microsoft.com/office/drawing/2014/main" id="{5FD371AA-4D32-3F4D-04CF-B284F83BC312}"/>
              </a:ext>
            </a:extLst>
          </p:cNvPr>
          <p:cNvSpPr txBox="1"/>
          <p:nvPr/>
        </p:nvSpPr>
        <p:spPr>
          <a:xfrm>
            <a:off x="1096297" y="1436302"/>
            <a:ext cx="2908489" cy="369332"/>
          </a:xfrm>
          <a:prstGeom prst="rect">
            <a:avLst/>
          </a:prstGeom>
          <a:noFill/>
        </p:spPr>
        <p:txBody>
          <a:bodyPr wrap="none" rtlCol="0">
            <a:spAutoFit/>
          </a:bodyPr>
          <a:lstStyle/>
          <a:p>
            <a:r>
              <a:rPr lang="en-IN" b="1" dirty="0"/>
              <a:t>Dashboard 1: Monthly View </a:t>
            </a:r>
            <a:endParaRPr lang="en-IN" dirty="0"/>
          </a:p>
        </p:txBody>
      </p:sp>
    </p:spTree>
    <p:extLst>
      <p:ext uri="{BB962C8B-B14F-4D97-AF65-F5344CB8AC3E}">
        <p14:creationId xmlns:p14="http://schemas.microsoft.com/office/powerpoint/2010/main" val="5854461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extLst>
              <a:ext uri="{BEBA8EAE-BF5A-486C-A8C5-ECC9F3942E4B}">
                <a14:imgProps xmlns:a14="http://schemas.microsoft.com/office/drawing/2010/main">
                  <a14:imgLayer r:embed="rId3">
                    <a14:imgEffect>
                      <a14:brightnessContrast bright="-40000" contrast="-20000"/>
                    </a14:imgEffect>
                  </a14:imgLayer>
                </a14:imgProps>
              </a:ext>
            </a:extLst>
          </a:blip>
          <a:srcRect/>
          <a:stretch>
            <a:fillRect/>
          </a:stretch>
        </a:blipFill>
        <a:effectLst/>
      </p:bgPr>
    </p:bg>
    <p:spTree>
      <p:nvGrpSpPr>
        <p:cNvPr id="1" name="">
          <a:extLst>
            <a:ext uri="{FF2B5EF4-FFF2-40B4-BE49-F238E27FC236}">
              <a16:creationId xmlns:a16="http://schemas.microsoft.com/office/drawing/2014/main" id="{4058BDF1-C0A6-117F-DC86-F76C00847F5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B370FB3-5E60-19F1-4589-47C0690B6449}"/>
              </a:ext>
            </a:extLst>
          </p:cNvPr>
          <p:cNvSpPr txBox="1"/>
          <p:nvPr/>
        </p:nvSpPr>
        <p:spPr>
          <a:xfrm>
            <a:off x="2792362" y="235974"/>
            <a:ext cx="5928852" cy="1569660"/>
          </a:xfrm>
          <a:prstGeom prst="rect">
            <a:avLst/>
          </a:prstGeom>
          <a:noFill/>
          <a:ln>
            <a:noFill/>
          </a:ln>
        </p:spPr>
        <p:txBody>
          <a:bodyPr wrap="square" rtlCol="0">
            <a:spAutoFit/>
          </a:bodyPr>
          <a:lstStyle/>
          <a:p>
            <a:pPr algn="ctr"/>
            <a:r>
              <a:rPr lang="en-IN" sz="3200" b="1" dirty="0">
                <a:effectLst/>
                <a:highlight>
                  <a:srgbClr val="C0C0C0"/>
                </a:highlight>
              </a:rPr>
              <a:t> Hospital Analysis Project         </a:t>
            </a:r>
            <a:endParaRPr lang="en-IN" sz="3200" b="0" dirty="0">
              <a:effectLst/>
              <a:highlight>
                <a:srgbClr val="C0C0C0"/>
              </a:highlight>
            </a:endParaRPr>
          </a:p>
          <a:p>
            <a:pPr algn="ctr"/>
            <a:br>
              <a:rPr lang="en-IN" sz="3200" dirty="0">
                <a:highlight>
                  <a:srgbClr val="C0C0C0"/>
                </a:highlight>
              </a:rPr>
            </a:br>
            <a:endParaRPr lang="en-IN" sz="3200" dirty="0">
              <a:highlight>
                <a:srgbClr val="C0C0C0"/>
              </a:highlight>
            </a:endParaRPr>
          </a:p>
        </p:txBody>
      </p:sp>
      <p:sp>
        <p:nvSpPr>
          <p:cNvPr id="3" name="TextBox 2">
            <a:extLst>
              <a:ext uri="{FF2B5EF4-FFF2-40B4-BE49-F238E27FC236}">
                <a16:creationId xmlns:a16="http://schemas.microsoft.com/office/drawing/2014/main" id="{9FEBCB64-BAC8-3D0B-EB7E-671E32A572A2}"/>
              </a:ext>
            </a:extLst>
          </p:cNvPr>
          <p:cNvSpPr txBox="1"/>
          <p:nvPr/>
        </p:nvSpPr>
        <p:spPr>
          <a:xfrm>
            <a:off x="919318" y="2282376"/>
            <a:ext cx="10840063" cy="2308324"/>
          </a:xfrm>
          <a:prstGeom prst="rect">
            <a:avLst/>
          </a:prstGeom>
          <a:noFill/>
        </p:spPr>
        <p:txBody>
          <a:bodyPr wrap="square" rtlCol="0">
            <a:spAutoFit/>
          </a:bodyPr>
          <a:lstStyle/>
          <a:p>
            <a:pPr marL="285750" indent="-285750">
              <a:buFont typeface="Wingdings" panose="05000000000000000000" pitchFamily="2" charset="2"/>
              <a:buChar char="Ø"/>
            </a:pPr>
            <a:r>
              <a:rPr lang="en-US" b="1" dirty="0"/>
              <a:t>Objective: </a:t>
            </a:r>
            <a:r>
              <a:rPr lang="en-US" dirty="0"/>
              <a:t>Provide a holistic summary of hospital performance for a selected date range.</a:t>
            </a:r>
          </a:p>
          <a:p>
            <a:endParaRPr lang="en-US" dirty="0">
              <a:effectLst/>
            </a:endParaRPr>
          </a:p>
          <a:p>
            <a:pPr marL="285750" indent="-285750">
              <a:buFont typeface="Wingdings" panose="05000000000000000000" pitchFamily="2" charset="2"/>
              <a:buChar char="Ø"/>
            </a:pPr>
            <a:r>
              <a:rPr lang="en-US" b="1" dirty="0"/>
              <a:t>Charts to Develop:</a:t>
            </a:r>
            <a:endParaRPr lang="en-US" b="1" dirty="0">
              <a:effectLst/>
            </a:endParaRPr>
          </a:p>
          <a:p>
            <a:pPr marL="742950" lvl="1" indent="-285750" fontAlgn="base">
              <a:buFont typeface="Arial" panose="020B0604020202020204" pitchFamily="34" charset="0"/>
              <a:buChar char="•"/>
            </a:pPr>
            <a:r>
              <a:rPr lang="en-US" dirty="0"/>
              <a:t>Similar metrics as the Monthly View, but aggregated over a customizable date range for broader insights and trend analysis</a:t>
            </a:r>
          </a:p>
          <a:p>
            <a:br>
              <a:rPr lang="en-US" dirty="0"/>
            </a:br>
            <a:br>
              <a:rPr lang="en-US" dirty="0"/>
            </a:br>
            <a:endParaRPr lang="en-IN" dirty="0"/>
          </a:p>
        </p:txBody>
      </p:sp>
      <p:sp>
        <p:nvSpPr>
          <p:cNvPr id="4" name="TextBox 3">
            <a:extLst>
              <a:ext uri="{FF2B5EF4-FFF2-40B4-BE49-F238E27FC236}">
                <a16:creationId xmlns:a16="http://schemas.microsoft.com/office/drawing/2014/main" id="{C0D09611-5E77-C1AC-E4B3-66BC45E4C637}"/>
              </a:ext>
            </a:extLst>
          </p:cNvPr>
          <p:cNvSpPr txBox="1"/>
          <p:nvPr/>
        </p:nvSpPr>
        <p:spPr>
          <a:xfrm>
            <a:off x="1156819" y="1020804"/>
            <a:ext cx="3470787" cy="923330"/>
          </a:xfrm>
          <a:prstGeom prst="rect">
            <a:avLst/>
          </a:prstGeom>
          <a:noFill/>
        </p:spPr>
        <p:txBody>
          <a:bodyPr wrap="square" rtlCol="0">
            <a:spAutoFit/>
          </a:bodyPr>
          <a:lstStyle/>
          <a:p>
            <a:r>
              <a:rPr lang="en-IN" b="1" dirty="0"/>
              <a:t>BUSINESS REQUIREMENTS:</a:t>
            </a:r>
            <a:endParaRPr lang="en-IN" b="0" dirty="0">
              <a:effectLst/>
            </a:endParaRPr>
          </a:p>
          <a:p>
            <a:br>
              <a:rPr lang="en-IN" dirty="0"/>
            </a:br>
            <a:endParaRPr lang="en-IN" dirty="0"/>
          </a:p>
        </p:txBody>
      </p:sp>
      <p:sp>
        <p:nvSpPr>
          <p:cNvPr id="6" name="TextBox 5">
            <a:extLst>
              <a:ext uri="{FF2B5EF4-FFF2-40B4-BE49-F238E27FC236}">
                <a16:creationId xmlns:a16="http://schemas.microsoft.com/office/drawing/2014/main" id="{511F233B-CAF2-C2C3-CBE6-9D868E433F83}"/>
              </a:ext>
            </a:extLst>
          </p:cNvPr>
          <p:cNvSpPr txBox="1"/>
          <p:nvPr/>
        </p:nvSpPr>
        <p:spPr>
          <a:xfrm>
            <a:off x="1096297" y="1436302"/>
            <a:ext cx="3392980" cy="369332"/>
          </a:xfrm>
          <a:prstGeom prst="rect">
            <a:avLst/>
          </a:prstGeom>
          <a:noFill/>
        </p:spPr>
        <p:txBody>
          <a:bodyPr wrap="none" rtlCol="0">
            <a:spAutoFit/>
          </a:bodyPr>
          <a:lstStyle/>
          <a:p>
            <a:r>
              <a:rPr lang="en-IN" b="1" dirty="0"/>
              <a:t>Dashboard 2: Consolidated View  </a:t>
            </a:r>
            <a:endParaRPr lang="en-IN" dirty="0"/>
          </a:p>
        </p:txBody>
      </p:sp>
    </p:spTree>
    <p:extLst>
      <p:ext uri="{BB962C8B-B14F-4D97-AF65-F5344CB8AC3E}">
        <p14:creationId xmlns:p14="http://schemas.microsoft.com/office/powerpoint/2010/main" val="3988105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extLst>
              <a:ext uri="{BEBA8EAE-BF5A-486C-A8C5-ECC9F3942E4B}">
                <a14:imgProps xmlns:a14="http://schemas.microsoft.com/office/drawing/2010/main">
                  <a14:imgLayer r:embed="rId3">
                    <a14:imgEffect>
                      <a14:brightnessContrast bright="-40000" contrast="-20000"/>
                    </a14:imgEffect>
                  </a14:imgLayer>
                </a14:imgProps>
              </a:ext>
            </a:extLst>
          </a:blip>
          <a:srcRect/>
          <a:stretch>
            <a:fillRect/>
          </a:stretch>
        </a:blipFill>
        <a:effectLst/>
      </p:bgPr>
    </p:bg>
    <p:spTree>
      <p:nvGrpSpPr>
        <p:cNvPr id="1" name="">
          <a:extLst>
            <a:ext uri="{FF2B5EF4-FFF2-40B4-BE49-F238E27FC236}">
              <a16:creationId xmlns:a16="http://schemas.microsoft.com/office/drawing/2014/main" id="{EE493016-6576-8043-2776-B2E54BB96A5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CA420C6-430C-0555-FF18-F43A1A94E00C}"/>
              </a:ext>
            </a:extLst>
          </p:cNvPr>
          <p:cNvSpPr txBox="1"/>
          <p:nvPr/>
        </p:nvSpPr>
        <p:spPr>
          <a:xfrm>
            <a:off x="2792362" y="235974"/>
            <a:ext cx="5928852" cy="1569660"/>
          </a:xfrm>
          <a:prstGeom prst="rect">
            <a:avLst/>
          </a:prstGeom>
          <a:noFill/>
          <a:ln>
            <a:noFill/>
          </a:ln>
        </p:spPr>
        <p:txBody>
          <a:bodyPr wrap="square" rtlCol="0">
            <a:spAutoFit/>
          </a:bodyPr>
          <a:lstStyle/>
          <a:p>
            <a:pPr algn="ctr"/>
            <a:r>
              <a:rPr lang="en-IN" sz="3200" b="1" dirty="0">
                <a:effectLst/>
                <a:highlight>
                  <a:srgbClr val="C0C0C0"/>
                </a:highlight>
              </a:rPr>
              <a:t> Hospital Analysis Project         </a:t>
            </a:r>
            <a:endParaRPr lang="en-IN" sz="3200" b="0" dirty="0">
              <a:effectLst/>
              <a:highlight>
                <a:srgbClr val="C0C0C0"/>
              </a:highlight>
            </a:endParaRPr>
          </a:p>
          <a:p>
            <a:pPr algn="ctr"/>
            <a:br>
              <a:rPr lang="en-IN" sz="3200" dirty="0">
                <a:highlight>
                  <a:srgbClr val="C0C0C0"/>
                </a:highlight>
              </a:rPr>
            </a:br>
            <a:endParaRPr lang="en-IN" sz="3200" dirty="0">
              <a:highlight>
                <a:srgbClr val="C0C0C0"/>
              </a:highlight>
            </a:endParaRPr>
          </a:p>
        </p:txBody>
      </p:sp>
      <p:sp>
        <p:nvSpPr>
          <p:cNvPr id="3" name="TextBox 2">
            <a:extLst>
              <a:ext uri="{FF2B5EF4-FFF2-40B4-BE49-F238E27FC236}">
                <a16:creationId xmlns:a16="http://schemas.microsoft.com/office/drawing/2014/main" id="{B81C00EB-9859-95FB-251F-CBD6EFC880EB}"/>
              </a:ext>
            </a:extLst>
          </p:cNvPr>
          <p:cNvSpPr txBox="1"/>
          <p:nvPr/>
        </p:nvSpPr>
        <p:spPr>
          <a:xfrm>
            <a:off x="919318" y="2282376"/>
            <a:ext cx="10840063" cy="4247317"/>
          </a:xfrm>
          <a:prstGeom prst="rect">
            <a:avLst/>
          </a:prstGeom>
          <a:noFill/>
        </p:spPr>
        <p:txBody>
          <a:bodyPr wrap="square" rtlCol="0">
            <a:spAutoFit/>
          </a:bodyPr>
          <a:lstStyle/>
          <a:p>
            <a:pPr marL="285750" indent="-285750">
              <a:buFont typeface="Wingdings" panose="05000000000000000000" pitchFamily="2" charset="2"/>
              <a:buChar char="Ø"/>
            </a:pPr>
            <a:r>
              <a:rPr lang="en-US" b="1" dirty="0"/>
              <a:t>Objective</a:t>
            </a:r>
            <a:r>
              <a:rPr lang="en-US" dirty="0"/>
              <a:t>: Offer granular insights into patient-level data to enable detailed analysis and troubleshooting</a:t>
            </a:r>
            <a:r>
              <a:rPr lang="en-US" b="1" dirty="0"/>
              <a:t>.</a:t>
            </a:r>
          </a:p>
          <a:p>
            <a:endParaRPr lang="en-US" b="0" dirty="0">
              <a:effectLst/>
            </a:endParaRPr>
          </a:p>
          <a:p>
            <a:pPr marL="285750" indent="-285750">
              <a:buFont typeface="Wingdings" panose="05000000000000000000" pitchFamily="2" charset="2"/>
              <a:buChar char="Ø"/>
            </a:pPr>
            <a:r>
              <a:rPr lang="en-US" b="1" dirty="0"/>
              <a:t>Charts to Develop: </a:t>
            </a:r>
            <a:r>
              <a:rPr lang="en-US" dirty="0"/>
              <a:t>A grid displaying essential fields:</a:t>
            </a:r>
            <a:endParaRPr lang="en-US" b="0" dirty="0">
              <a:effectLst/>
            </a:endParaRPr>
          </a:p>
          <a:p>
            <a:pPr marL="742950" lvl="1" indent="-285750" fontAlgn="base">
              <a:buFont typeface="Arial" panose="020B0604020202020204" pitchFamily="34" charset="0"/>
              <a:buChar char="•"/>
            </a:pPr>
            <a:r>
              <a:rPr lang="en-US" dirty="0"/>
              <a:t>Patient ID</a:t>
            </a:r>
          </a:p>
          <a:p>
            <a:pPr marL="742950" lvl="1" indent="-285750" fontAlgn="base">
              <a:buFont typeface="Arial" panose="020B0604020202020204" pitchFamily="34" charset="0"/>
              <a:buChar char="•"/>
            </a:pPr>
            <a:r>
              <a:rPr lang="en-US" dirty="0"/>
              <a:t>Patient Full Name</a:t>
            </a:r>
          </a:p>
          <a:p>
            <a:pPr marL="742950" lvl="1" indent="-285750" fontAlgn="base">
              <a:buFont typeface="Arial" panose="020B0604020202020204" pitchFamily="34" charset="0"/>
              <a:buChar char="•"/>
            </a:pPr>
            <a:r>
              <a:rPr lang="en-US" dirty="0"/>
              <a:t>Gender</a:t>
            </a:r>
          </a:p>
          <a:p>
            <a:pPr marL="742950" lvl="1" indent="-285750" fontAlgn="base">
              <a:buFont typeface="Arial" panose="020B0604020202020204" pitchFamily="34" charset="0"/>
              <a:buChar char="•"/>
            </a:pPr>
            <a:r>
              <a:rPr lang="en-US" dirty="0"/>
              <a:t>Age</a:t>
            </a:r>
          </a:p>
          <a:p>
            <a:pPr marL="742950" lvl="1" indent="-285750" fontAlgn="base">
              <a:buFont typeface="Arial" panose="020B0604020202020204" pitchFamily="34" charset="0"/>
              <a:buChar char="•"/>
            </a:pPr>
            <a:r>
              <a:rPr lang="en-US" dirty="0"/>
              <a:t>Admission Date</a:t>
            </a:r>
          </a:p>
          <a:p>
            <a:pPr marL="742950" lvl="1" indent="-285750" fontAlgn="base">
              <a:buFont typeface="Arial" panose="020B0604020202020204" pitchFamily="34" charset="0"/>
              <a:buChar char="•"/>
            </a:pPr>
            <a:r>
              <a:rPr lang="en-US" dirty="0"/>
              <a:t>Patient Race</a:t>
            </a:r>
          </a:p>
          <a:p>
            <a:pPr marL="742950" lvl="1" indent="-285750" fontAlgn="base">
              <a:buFont typeface="Arial" panose="020B0604020202020204" pitchFamily="34" charset="0"/>
              <a:buChar char="•"/>
            </a:pPr>
            <a:r>
              <a:rPr lang="en-US" dirty="0"/>
              <a:t>Wait Time</a:t>
            </a:r>
          </a:p>
          <a:p>
            <a:pPr marL="742950" lvl="1" indent="-285750" fontAlgn="base">
              <a:buFont typeface="Arial" panose="020B0604020202020204" pitchFamily="34" charset="0"/>
              <a:buChar char="•"/>
            </a:pPr>
            <a:r>
              <a:rPr lang="en-US" dirty="0"/>
              <a:t>Department Referral</a:t>
            </a:r>
          </a:p>
          <a:p>
            <a:pPr marL="742950" lvl="1" indent="-285750" fontAlgn="base">
              <a:buFont typeface="Arial" panose="020B0604020202020204" pitchFamily="34" charset="0"/>
              <a:buChar char="•"/>
            </a:pPr>
            <a:r>
              <a:rPr lang="en-US" dirty="0"/>
              <a:t>Admission Status</a:t>
            </a:r>
          </a:p>
          <a:p>
            <a:br>
              <a:rPr lang="en-US" dirty="0"/>
            </a:br>
            <a:br>
              <a:rPr lang="en-US" dirty="0"/>
            </a:br>
            <a:endParaRPr lang="en-IN" dirty="0"/>
          </a:p>
        </p:txBody>
      </p:sp>
      <p:sp>
        <p:nvSpPr>
          <p:cNvPr id="4" name="TextBox 3">
            <a:extLst>
              <a:ext uri="{FF2B5EF4-FFF2-40B4-BE49-F238E27FC236}">
                <a16:creationId xmlns:a16="http://schemas.microsoft.com/office/drawing/2014/main" id="{899ADBB8-3C53-2F94-0798-90D8F52C4D06}"/>
              </a:ext>
            </a:extLst>
          </p:cNvPr>
          <p:cNvSpPr txBox="1"/>
          <p:nvPr/>
        </p:nvSpPr>
        <p:spPr>
          <a:xfrm>
            <a:off x="1156819" y="1020804"/>
            <a:ext cx="3470787" cy="923330"/>
          </a:xfrm>
          <a:prstGeom prst="rect">
            <a:avLst/>
          </a:prstGeom>
          <a:noFill/>
        </p:spPr>
        <p:txBody>
          <a:bodyPr wrap="square" rtlCol="0">
            <a:spAutoFit/>
          </a:bodyPr>
          <a:lstStyle/>
          <a:p>
            <a:r>
              <a:rPr lang="en-IN" b="1" dirty="0"/>
              <a:t>BUSINESS REQUIREMENTS:</a:t>
            </a:r>
            <a:endParaRPr lang="en-IN" b="0" dirty="0">
              <a:effectLst/>
            </a:endParaRPr>
          </a:p>
          <a:p>
            <a:br>
              <a:rPr lang="en-IN" dirty="0"/>
            </a:br>
            <a:endParaRPr lang="en-IN" dirty="0"/>
          </a:p>
        </p:txBody>
      </p:sp>
      <p:sp>
        <p:nvSpPr>
          <p:cNvPr id="6" name="TextBox 5">
            <a:extLst>
              <a:ext uri="{FF2B5EF4-FFF2-40B4-BE49-F238E27FC236}">
                <a16:creationId xmlns:a16="http://schemas.microsoft.com/office/drawing/2014/main" id="{C9E69E70-862A-BBC8-2180-C6D142F5A4C2}"/>
              </a:ext>
            </a:extLst>
          </p:cNvPr>
          <p:cNvSpPr txBox="1"/>
          <p:nvPr/>
        </p:nvSpPr>
        <p:spPr>
          <a:xfrm>
            <a:off x="1096297" y="1436302"/>
            <a:ext cx="3006592" cy="369332"/>
          </a:xfrm>
          <a:prstGeom prst="rect">
            <a:avLst/>
          </a:prstGeom>
          <a:noFill/>
        </p:spPr>
        <p:txBody>
          <a:bodyPr wrap="none" rtlCol="0">
            <a:spAutoFit/>
          </a:bodyPr>
          <a:lstStyle/>
          <a:p>
            <a:r>
              <a:rPr lang="en-IN" b="1" dirty="0"/>
              <a:t>Dashboard 3: Patient Details  </a:t>
            </a:r>
            <a:endParaRPr lang="en-IN" dirty="0"/>
          </a:p>
        </p:txBody>
      </p:sp>
    </p:spTree>
    <p:extLst>
      <p:ext uri="{BB962C8B-B14F-4D97-AF65-F5344CB8AC3E}">
        <p14:creationId xmlns:p14="http://schemas.microsoft.com/office/powerpoint/2010/main" val="1644817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extLst>
              <a:ext uri="{BEBA8EAE-BF5A-486C-A8C5-ECC9F3942E4B}">
                <a14:imgProps xmlns:a14="http://schemas.microsoft.com/office/drawing/2010/main">
                  <a14:imgLayer r:embed="rId3">
                    <a14:imgEffect>
                      <a14:brightnessContrast bright="-40000" contrast="-20000"/>
                    </a14:imgEffect>
                  </a14:imgLayer>
                </a14:imgProps>
              </a:ext>
            </a:extLst>
          </a:blip>
          <a:srcRect/>
          <a:stretch>
            <a:fillRect/>
          </a:stretch>
        </a:blipFill>
        <a:effectLst/>
      </p:bgPr>
    </p:bg>
    <p:spTree>
      <p:nvGrpSpPr>
        <p:cNvPr id="1" name="">
          <a:extLst>
            <a:ext uri="{FF2B5EF4-FFF2-40B4-BE49-F238E27FC236}">
              <a16:creationId xmlns:a16="http://schemas.microsoft.com/office/drawing/2014/main" id="{0A431BEE-D3AD-59A2-1EF7-65E5C281A0B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CDE8FF-7071-2A94-32DF-2DD8259262BA}"/>
              </a:ext>
            </a:extLst>
          </p:cNvPr>
          <p:cNvSpPr txBox="1"/>
          <p:nvPr/>
        </p:nvSpPr>
        <p:spPr>
          <a:xfrm>
            <a:off x="2792362" y="235974"/>
            <a:ext cx="5928852" cy="1569660"/>
          </a:xfrm>
          <a:prstGeom prst="rect">
            <a:avLst/>
          </a:prstGeom>
          <a:noFill/>
          <a:ln>
            <a:noFill/>
          </a:ln>
        </p:spPr>
        <p:txBody>
          <a:bodyPr wrap="square" rtlCol="0">
            <a:spAutoFit/>
          </a:bodyPr>
          <a:lstStyle/>
          <a:p>
            <a:pPr algn="ctr"/>
            <a:r>
              <a:rPr lang="en-IN" sz="3200" b="1" dirty="0">
                <a:effectLst/>
                <a:highlight>
                  <a:srgbClr val="C0C0C0"/>
                </a:highlight>
              </a:rPr>
              <a:t> Hospital Analysis Project         </a:t>
            </a:r>
            <a:endParaRPr lang="en-IN" sz="3200" b="0" dirty="0">
              <a:effectLst/>
              <a:highlight>
                <a:srgbClr val="C0C0C0"/>
              </a:highlight>
            </a:endParaRPr>
          </a:p>
          <a:p>
            <a:pPr algn="ctr"/>
            <a:br>
              <a:rPr lang="en-IN" sz="3200" dirty="0">
                <a:highlight>
                  <a:srgbClr val="C0C0C0"/>
                </a:highlight>
              </a:rPr>
            </a:br>
            <a:endParaRPr lang="en-IN" sz="3200" dirty="0">
              <a:highlight>
                <a:srgbClr val="C0C0C0"/>
              </a:highlight>
            </a:endParaRPr>
          </a:p>
        </p:txBody>
      </p:sp>
      <p:sp>
        <p:nvSpPr>
          <p:cNvPr id="3" name="TextBox 2">
            <a:extLst>
              <a:ext uri="{FF2B5EF4-FFF2-40B4-BE49-F238E27FC236}">
                <a16:creationId xmlns:a16="http://schemas.microsoft.com/office/drawing/2014/main" id="{DFCB1F6F-8AAC-48A9-E1FA-0015997AC54C}"/>
              </a:ext>
            </a:extLst>
          </p:cNvPr>
          <p:cNvSpPr txBox="1"/>
          <p:nvPr/>
        </p:nvSpPr>
        <p:spPr>
          <a:xfrm>
            <a:off x="919318" y="2282376"/>
            <a:ext cx="10840063" cy="2308324"/>
          </a:xfrm>
          <a:prstGeom prst="rect">
            <a:avLst/>
          </a:prstGeom>
          <a:noFill/>
        </p:spPr>
        <p:txBody>
          <a:bodyPr wrap="square" rtlCol="0">
            <a:spAutoFit/>
          </a:bodyPr>
          <a:lstStyle/>
          <a:p>
            <a:pPr marL="285750" indent="-285750">
              <a:buFont typeface="Wingdings" panose="05000000000000000000" pitchFamily="2" charset="2"/>
              <a:buChar char="Ø"/>
            </a:pPr>
            <a:r>
              <a:rPr lang="en-US" b="1" dirty="0"/>
              <a:t>Objective: </a:t>
            </a:r>
            <a:r>
              <a:rPr lang="en-US" dirty="0"/>
              <a:t>Summarize the findings from all dashboards to provide clear and actionable insights for stakeholders</a:t>
            </a:r>
            <a:r>
              <a:rPr lang="en-US" b="1" dirty="0"/>
              <a:t>.</a:t>
            </a:r>
          </a:p>
          <a:p>
            <a:endParaRPr lang="en-US" b="0" dirty="0">
              <a:effectLst/>
            </a:endParaRPr>
          </a:p>
          <a:p>
            <a:pPr marL="285750" indent="-285750">
              <a:buFont typeface="Wingdings" panose="05000000000000000000" pitchFamily="2" charset="2"/>
              <a:buChar char="Ø"/>
            </a:pPr>
            <a:r>
              <a:rPr lang="en-US" b="1" dirty="0"/>
              <a:t>Charts to Develop:</a:t>
            </a:r>
            <a:endParaRPr lang="en-US" b="0" dirty="0">
              <a:effectLst/>
            </a:endParaRPr>
          </a:p>
          <a:p>
            <a:pPr marL="742950" lvl="1" indent="-285750" fontAlgn="base">
              <a:buFont typeface="Arial" panose="020B0604020202020204" pitchFamily="34" charset="0"/>
              <a:buChar char="•"/>
            </a:pPr>
            <a:r>
              <a:rPr lang="en-US" dirty="0"/>
              <a:t>Descriptive analysis of each metric and visualization, including patterns, anomalies, and actionable recommendations to optimize Hospital operations and patient care.</a:t>
            </a:r>
          </a:p>
          <a:p>
            <a:pPr lvl="1"/>
            <a:br>
              <a:rPr lang="en-US" dirty="0"/>
            </a:br>
            <a:endParaRPr lang="en-IN" dirty="0"/>
          </a:p>
        </p:txBody>
      </p:sp>
      <p:sp>
        <p:nvSpPr>
          <p:cNvPr id="4" name="TextBox 3">
            <a:extLst>
              <a:ext uri="{FF2B5EF4-FFF2-40B4-BE49-F238E27FC236}">
                <a16:creationId xmlns:a16="http://schemas.microsoft.com/office/drawing/2014/main" id="{4249E96A-A875-6BE2-1FE7-2BE86AC8A7D5}"/>
              </a:ext>
            </a:extLst>
          </p:cNvPr>
          <p:cNvSpPr txBox="1"/>
          <p:nvPr/>
        </p:nvSpPr>
        <p:spPr>
          <a:xfrm>
            <a:off x="1156819" y="1020804"/>
            <a:ext cx="3470787" cy="923330"/>
          </a:xfrm>
          <a:prstGeom prst="rect">
            <a:avLst/>
          </a:prstGeom>
          <a:noFill/>
        </p:spPr>
        <p:txBody>
          <a:bodyPr wrap="square" rtlCol="0">
            <a:spAutoFit/>
          </a:bodyPr>
          <a:lstStyle/>
          <a:p>
            <a:r>
              <a:rPr lang="en-IN" b="1" dirty="0"/>
              <a:t>BUSINESS REQUIREMENTS:</a:t>
            </a:r>
            <a:endParaRPr lang="en-IN" b="0" dirty="0">
              <a:effectLst/>
            </a:endParaRPr>
          </a:p>
          <a:p>
            <a:br>
              <a:rPr lang="en-IN" dirty="0"/>
            </a:br>
            <a:endParaRPr lang="en-IN" dirty="0"/>
          </a:p>
        </p:txBody>
      </p:sp>
      <p:sp>
        <p:nvSpPr>
          <p:cNvPr id="6" name="TextBox 5">
            <a:extLst>
              <a:ext uri="{FF2B5EF4-FFF2-40B4-BE49-F238E27FC236}">
                <a16:creationId xmlns:a16="http://schemas.microsoft.com/office/drawing/2014/main" id="{0D81E60E-5E51-6CE8-E4AC-56F571B23E16}"/>
              </a:ext>
            </a:extLst>
          </p:cNvPr>
          <p:cNvSpPr txBox="1"/>
          <p:nvPr/>
        </p:nvSpPr>
        <p:spPr>
          <a:xfrm>
            <a:off x="1096297" y="1436302"/>
            <a:ext cx="2926314" cy="369332"/>
          </a:xfrm>
          <a:prstGeom prst="rect">
            <a:avLst/>
          </a:prstGeom>
          <a:noFill/>
        </p:spPr>
        <p:txBody>
          <a:bodyPr wrap="none" rtlCol="0">
            <a:spAutoFit/>
          </a:bodyPr>
          <a:lstStyle/>
          <a:p>
            <a:r>
              <a:rPr lang="en-IN" b="1" dirty="0"/>
              <a:t>Dashboard 4: Key Takeaways</a:t>
            </a:r>
            <a:endParaRPr lang="en-IN" dirty="0"/>
          </a:p>
        </p:txBody>
      </p:sp>
    </p:spTree>
    <p:extLst>
      <p:ext uri="{BB962C8B-B14F-4D97-AF65-F5344CB8AC3E}">
        <p14:creationId xmlns:p14="http://schemas.microsoft.com/office/powerpoint/2010/main" val="984646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extLst>
              <a:ext uri="{BEBA8EAE-BF5A-486C-A8C5-ECC9F3942E4B}">
                <a14:imgProps xmlns:a14="http://schemas.microsoft.com/office/drawing/2010/main">
                  <a14:imgLayer r:embed="rId3">
                    <a14:imgEffect>
                      <a14:brightnessContrast bright="-40000" contrast="-20000"/>
                    </a14:imgEffect>
                  </a14:imgLayer>
                </a14:imgProps>
              </a:ext>
            </a:extLst>
          </a:blip>
          <a:srcRect/>
          <a:stretch>
            <a:fillRect/>
          </a:stretch>
        </a:blipFill>
        <a:effectLst/>
      </p:bgPr>
    </p:bg>
    <p:spTree>
      <p:nvGrpSpPr>
        <p:cNvPr id="1" name="">
          <a:extLst>
            <a:ext uri="{FF2B5EF4-FFF2-40B4-BE49-F238E27FC236}">
              <a16:creationId xmlns:a16="http://schemas.microsoft.com/office/drawing/2014/main" id="{693DB442-76E6-B927-D944-5D6F7CA3609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E46C6AC-B98B-0157-4E73-B435E2D3DC12}"/>
              </a:ext>
            </a:extLst>
          </p:cNvPr>
          <p:cNvSpPr txBox="1"/>
          <p:nvPr/>
        </p:nvSpPr>
        <p:spPr>
          <a:xfrm>
            <a:off x="2792362" y="235974"/>
            <a:ext cx="5928852" cy="1569660"/>
          </a:xfrm>
          <a:prstGeom prst="rect">
            <a:avLst/>
          </a:prstGeom>
          <a:noFill/>
          <a:ln>
            <a:noFill/>
          </a:ln>
        </p:spPr>
        <p:txBody>
          <a:bodyPr wrap="square" rtlCol="0">
            <a:spAutoFit/>
          </a:bodyPr>
          <a:lstStyle/>
          <a:p>
            <a:pPr algn="ctr"/>
            <a:r>
              <a:rPr lang="en-IN" sz="3200" b="1" dirty="0">
                <a:effectLst/>
                <a:highlight>
                  <a:srgbClr val="C0C0C0"/>
                </a:highlight>
              </a:rPr>
              <a:t> Hospital Analysis Project         </a:t>
            </a:r>
            <a:endParaRPr lang="en-IN" sz="3200" b="0" dirty="0">
              <a:effectLst/>
              <a:highlight>
                <a:srgbClr val="C0C0C0"/>
              </a:highlight>
            </a:endParaRPr>
          </a:p>
          <a:p>
            <a:pPr algn="ctr"/>
            <a:br>
              <a:rPr lang="en-IN" sz="3200" dirty="0">
                <a:highlight>
                  <a:srgbClr val="C0C0C0"/>
                </a:highlight>
              </a:rPr>
            </a:br>
            <a:endParaRPr lang="en-IN" sz="3200" dirty="0">
              <a:highlight>
                <a:srgbClr val="C0C0C0"/>
              </a:highlight>
            </a:endParaRPr>
          </a:p>
        </p:txBody>
      </p:sp>
      <p:sp>
        <p:nvSpPr>
          <p:cNvPr id="3" name="TextBox 2">
            <a:extLst>
              <a:ext uri="{FF2B5EF4-FFF2-40B4-BE49-F238E27FC236}">
                <a16:creationId xmlns:a16="http://schemas.microsoft.com/office/drawing/2014/main" id="{145A90A2-4892-1D2A-6EAF-E63CE896C63D}"/>
              </a:ext>
            </a:extLst>
          </p:cNvPr>
          <p:cNvSpPr txBox="1"/>
          <p:nvPr/>
        </p:nvSpPr>
        <p:spPr>
          <a:xfrm>
            <a:off x="540774" y="1205470"/>
            <a:ext cx="11385755" cy="5778505"/>
          </a:xfrm>
          <a:prstGeom prst="rect">
            <a:avLst/>
          </a:prstGeom>
          <a:noFill/>
        </p:spPr>
        <p:txBody>
          <a:bodyPr wrap="square" rtlCol="0">
            <a:spAutoFit/>
          </a:bodyPr>
          <a:lstStyle/>
          <a:p>
            <a:r>
              <a:rPr lang="en-US" sz="1450" b="1" dirty="0"/>
              <a:t>Descriptive Analysis </a:t>
            </a:r>
            <a:endParaRPr lang="en-US" sz="1450" dirty="0"/>
          </a:p>
          <a:p>
            <a:r>
              <a:rPr lang="en-US" sz="1450" dirty="0"/>
              <a:t>(April 2023 October 2024)</a:t>
            </a:r>
          </a:p>
          <a:p>
            <a:r>
              <a:rPr lang="en-US" sz="1450" dirty="0"/>
              <a:t>The Hospital dataset, covering a period of 19 months, records a total of 9,216 unique patients.</a:t>
            </a:r>
          </a:p>
          <a:p>
            <a:pPr marL="285750" indent="-285750">
              <a:buFont typeface="Wingdings" panose="05000000000000000000" pitchFamily="2" charset="2"/>
              <a:buChar char="ü"/>
            </a:pPr>
            <a:r>
              <a:rPr lang="en-US" sz="1450" b="1" dirty="0"/>
              <a:t>Patient Satisfaction:</a:t>
            </a:r>
            <a:endParaRPr lang="en-US" sz="1450" dirty="0"/>
          </a:p>
          <a:p>
            <a:r>
              <a:rPr lang="en-US" sz="1450" dirty="0"/>
              <a:t> The average satisfaction score was 4.99 out of 10, suggesting moderate satisfaction and highlighting areas for improving patient experiences.</a:t>
            </a:r>
          </a:p>
          <a:p>
            <a:pPr marL="285750" indent="-285750">
              <a:buFont typeface="Wingdings" panose="05000000000000000000" pitchFamily="2" charset="2"/>
              <a:buChar char="ü"/>
            </a:pPr>
            <a:r>
              <a:rPr lang="en-US" sz="1450" b="1" dirty="0"/>
              <a:t>Departmental Referrals:</a:t>
            </a:r>
            <a:endParaRPr lang="en-US" sz="1450" dirty="0"/>
          </a:p>
          <a:p>
            <a:r>
              <a:rPr lang="en-US" sz="1450" dirty="0"/>
              <a:t>A significant number of Patients (5400) did not required referrals. Among those referred, the most common were General Practice (1540 cases) and Orthopedics (995 Cases), followed by Physiotherapy (276 Cases) and Cardiology (248 Cases)</a:t>
            </a:r>
          </a:p>
          <a:p>
            <a:pPr marL="285750" indent="-285750">
              <a:buFont typeface="Wingdings" panose="05000000000000000000" pitchFamily="2" charset="2"/>
              <a:buChar char="ü"/>
            </a:pPr>
            <a:r>
              <a:rPr lang="en-US" sz="1450" b="1" dirty="0"/>
              <a:t>Peak busy Periods:</a:t>
            </a:r>
            <a:endParaRPr lang="en-US" sz="1450" dirty="0"/>
          </a:p>
          <a:p>
            <a:r>
              <a:rPr lang="en-US" sz="1450" dirty="0"/>
              <a:t>The busiest day were Mondays (1377 Patients), Saturdays (1322 Patterns), and Tuesdays (1318 Patients). The busiest hours were 11 AM, 7PM, 01 PM, and 11 PM indicating need of ample staffing during these periods.</a:t>
            </a:r>
          </a:p>
          <a:p>
            <a:pPr marL="285750" indent="-285750">
              <a:buFont typeface="Wingdings" panose="05000000000000000000" pitchFamily="2" charset="2"/>
              <a:buChar char="ü"/>
            </a:pPr>
            <a:r>
              <a:rPr lang="en-US" sz="1450" b="1" dirty="0"/>
              <a:t>Patient Demographics:</a:t>
            </a:r>
            <a:endParaRPr lang="en-US" sz="1450" dirty="0"/>
          </a:p>
          <a:p>
            <a:r>
              <a:rPr lang="en-US" sz="1450" dirty="0"/>
              <a:t>Age Groups: Adults (30-39 years) formed a large group (1200 Patients), followed by young adults (20-29 Years) with 1188 Patients. Other significant groups included middle aged as well (40-50 Years).</a:t>
            </a:r>
          </a:p>
          <a:p>
            <a:pPr marL="285750" indent="-285750">
              <a:buFont typeface="Wingdings" panose="05000000000000000000" pitchFamily="2" charset="2"/>
              <a:buChar char="ü"/>
            </a:pPr>
            <a:r>
              <a:rPr lang="en-US" sz="1450" b="1" dirty="0"/>
              <a:t>Race Distribution:</a:t>
            </a:r>
            <a:endParaRPr lang="en-US" sz="1450" dirty="0"/>
          </a:p>
          <a:p>
            <a:r>
              <a:rPr lang="en-US" sz="1450" dirty="0"/>
              <a:t>The largest racial group was White (2571), followed by African American (1951), multi racial (1557), and Asian (1060) patients. A significant number of patients (1030) declined to Identify their race.</a:t>
            </a:r>
          </a:p>
          <a:p>
            <a:pPr marL="285750" indent="-285750">
              <a:buFont typeface="Wingdings" panose="05000000000000000000" pitchFamily="2" charset="2"/>
              <a:buChar char="ü"/>
            </a:pPr>
            <a:r>
              <a:rPr lang="en-US" sz="1450" b="1" dirty="0"/>
              <a:t>Admission Patterns:</a:t>
            </a:r>
            <a:endParaRPr lang="en-US" sz="1450" dirty="0"/>
          </a:p>
          <a:p>
            <a:r>
              <a:rPr lang="en-US" sz="1450" dirty="0"/>
              <a:t>Nearly half of the patients (4612) wars admitted, while the rest (4604) wars treated and released,</a:t>
            </a:r>
          </a:p>
          <a:p>
            <a:pPr marL="285750" indent="-285750">
              <a:buFont typeface="Wingdings" panose="05000000000000000000" pitchFamily="2" charset="2"/>
              <a:buChar char="ü"/>
            </a:pPr>
            <a:r>
              <a:rPr lang="en-US" sz="1450" b="1" dirty="0"/>
              <a:t>Summary:</a:t>
            </a:r>
            <a:endParaRPr lang="en-US" sz="1450" dirty="0"/>
          </a:p>
          <a:p>
            <a:r>
              <a:rPr lang="en-US" sz="1450" dirty="0"/>
              <a:t>The dataset reveals high patient volumes, moderate satisfaction levels, and common referrals to General Practice and Orthopedics. Mondays and late night to early mornings hours are particularly busy. The patient demographics show a diverse age and racial composition, with nearly equal numbers of admitted and non admitted patients. These Insights can help optimize resource allocation and improve patient care in the Hospital.</a:t>
            </a:r>
          </a:p>
          <a:p>
            <a:pPr lvl="1"/>
            <a:br>
              <a:rPr lang="en-US" dirty="0"/>
            </a:br>
            <a:endParaRPr lang="en-IN" dirty="0"/>
          </a:p>
        </p:txBody>
      </p:sp>
      <p:sp>
        <p:nvSpPr>
          <p:cNvPr id="6" name="TextBox 5">
            <a:extLst>
              <a:ext uri="{FF2B5EF4-FFF2-40B4-BE49-F238E27FC236}">
                <a16:creationId xmlns:a16="http://schemas.microsoft.com/office/drawing/2014/main" id="{05BFD515-E9F5-342A-3213-0A68FCBB5450}"/>
              </a:ext>
            </a:extLst>
          </p:cNvPr>
          <p:cNvSpPr txBox="1"/>
          <p:nvPr/>
        </p:nvSpPr>
        <p:spPr>
          <a:xfrm>
            <a:off x="629265" y="855406"/>
            <a:ext cx="1374561" cy="400110"/>
          </a:xfrm>
          <a:prstGeom prst="rect">
            <a:avLst/>
          </a:prstGeom>
          <a:noFill/>
        </p:spPr>
        <p:txBody>
          <a:bodyPr wrap="square" rtlCol="0">
            <a:spAutoFit/>
          </a:bodyPr>
          <a:lstStyle/>
          <a:p>
            <a:r>
              <a:rPr lang="en-IN" sz="2000" b="1" dirty="0"/>
              <a:t>Insights</a:t>
            </a:r>
            <a:r>
              <a:rPr lang="en-IN" b="1" dirty="0"/>
              <a:t>: </a:t>
            </a:r>
            <a:endParaRPr lang="en-IN" dirty="0"/>
          </a:p>
        </p:txBody>
      </p:sp>
    </p:spTree>
    <p:extLst>
      <p:ext uri="{BB962C8B-B14F-4D97-AF65-F5344CB8AC3E}">
        <p14:creationId xmlns:p14="http://schemas.microsoft.com/office/powerpoint/2010/main" val="3710371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5000"/>
            <a:extLst>
              <a:ext uri="{BEBA8EAE-BF5A-486C-A8C5-ECC9F3942E4B}">
                <a14:imgProps xmlns:a14="http://schemas.microsoft.com/office/drawing/2010/main">
                  <a14:imgLayer r:embed="rId3">
                    <a14:imgEffect>
                      <a14:brightnessContrast bright="-40000" contrast="-20000"/>
                    </a14:imgEffect>
                  </a14:imgLayer>
                </a14:imgProps>
              </a:ext>
            </a:extLst>
          </a:blip>
          <a:srcRect/>
          <a:stretch>
            <a:fillRect/>
          </a:stretch>
        </a:blipFill>
        <a:effectLst/>
      </p:bgPr>
    </p:bg>
    <p:spTree>
      <p:nvGrpSpPr>
        <p:cNvPr id="1" name="">
          <a:extLst>
            <a:ext uri="{FF2B5EF4-FFF2-40B4-BE49-F238E27FC236}">
              <a16:creationId xmlns:a16="http://schemas.microsoft.com/office/drawing/2014/main" id="{992EEFB5-E17F-2432-E9C0-F4DA49DE473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0DDEC35-AC16-D8C4-93CC-79B9D3A1327D}"/>
              </a:ext>
            </a:extLst>
          </p:cNvPr>
          <p:cNvSpPr txBox="1"/>
          <p:nvPr/>
        </p:nvSpPr>
        <p:spPr>
          <a:xfrm>
            <a:off x="2792362" y="235974"/>
            <a:ext cx="5928852" cy="1569660"/>
          </a:xfrm>
          <a:prstGeom prst="rect">
            <a:avLst/>
          </a:prstGeom>
          <a:noFill/>
          <a:ln>
            <a:noFill/>
          </a:ln>
        </p:spPr>
        <p:txBody>
          <a:bodyPr wrap="square" rtlCol="0">
            <a:spAutoFit/>
          </a:bodyPr>
          <a:lstStyle/>
          <a:p>
            <a:pPr algn="ctr"/>
            <a:r>
              <a:rPr lang="en-IN" sz="3200" b="1" dirty="0">
                <a:effectLst/>
                <a:highlight>
                  <a:srgbClr val="C0C0C0"/>
                </a:highlight>
              </a:rPr>
              <a:t> Hospital Analysis Project         </a:t>
            </a:r>
            <a:endParaRPr lang="en-IN" sz="3200" b="0" dirty="0">
              <a:effectLst/>
              <a:highlight>
                <a:srgbClr val="C0C0C0"/>
              </a:highlight>
            </a:endParaRPr>
          </a:p>
          <a:p>
            <a:pPr algn="ctr"/>
            <a:br>
              <a:rPr lang="en-IN" sz="3200" dirty="0">
                <a:highlight>
                  <a:srgbClr val="C0C0C0"/>
                </a:highlight>
              </a:rPr>
            </a:br>
            <a:endParaRPr lang="en-IN" sz="3200" dirty="0">
              <a:highlight>
                <a:srgbClr val="C0C0C0"/>
              </a:highlight>
            </a:endParaRPr>
          </a:p>
        </p:txBody>
      </p:sp>
      <p:sp>
        <p:nvSpPr>
          <p:cNvPr id="3" name="TextBox 2">
            <a:extLst>
              <a:ext uri="{FF2B5EF4-FFF2-40B4-BE49-F238E27FC236}">
                <a16:creationId xmlns:a16="http://schemas.microsoft.com/office/drawing/2014/main" id="{545C1DE4-3BCB-CD05-F3F9-4B8B983FFC32}"/>
              </a:ext>
            </a:extLst>
          </p:cNvPr>
          <p:cNvSpPr txBox="1"/>
          <p:nvPr/>
        </p:nvSpPr>
        <p:spPr>
          <a:xfrm>
            <a:off x="1966453" y="2736502"/>
            <a:ext cx="6754761" cy="1384995"/>
          </a:xfrm>
          <a:prstGeom prst="rect">
            <a:avLst/>
          </a:prstGeom>
          <a:noFill/>
        </p:spPr>
        <p:txBody>
          <a:bodyPr wrap="square" rtlCol="0">
            <a:spAutoFit/>
          </a:bodyPr>
          <a:lstStyle/>
          <a:p>
            <a:pPr lvl="1" algn="ctr"/>
            <a:br>
              <a:rPr lang="en-US" dirty="0"/>
            </a:br>
            <a:r>
              <a:rPr lang="en-US" sz="6600" dirty="0"/>
              <a:t>Thank You…</a:t>
            </a:r>
            <a:endParaRPr lang="en-IN" dirty="0"/>
          </a:p>
        </p:txBody>
      </p:sp>
      <p:sp>
        <p:nvSpPr>
          <p:cNvPr id="6" name="TextBox 5">
            <a:extLst>
              <a:ext uri="{FF2B5EF4-FFF2-40B4-BE49-F238E27FC236}">
                <a16:creationId xmlns:a16="http://schemas.microsoft.com/office/drawing/2014/main" id="{C3ADB47B-81D5-4611-0ED6-496585B29584}"/>
              </a:ext>
            </a:extLst>
          </p:cNvPr>
          <p:cNvSpPr txBox="1"/>
          <p:nvPr/>
        </p:nvSpPr>
        <p:spPr>
          <a:xfrm>
            <a:off x="8268929" y="6145161"/>
            <a:ext cx="3156155" cy="400110"/>
          </a:xfrm>
          <a:prstGeom prst="rect">
            <a:avLst/>
          </a:prstGeom>
          <a:noFill/>
        </p:spPr>
        <p:txBody>
          <a:bodyPr wrap="square" rtlCol="0">
            <a:spAutoFit/>
          </a:bodyPr>
          <a:lstStyle/>
          <a:p>
            <a:pPr algn="r"/>
            <a:r>
              <a:rPr lang="en-IN" sz="2000" b="1" dirty="0"/>
              <a:t>By. Akanksha Walde</a:t>
            </a:r>
            <a:r>
              <a:rPr lang="en-IN" b="1" dirty="0"/>
              <a:t> </a:t>
            </a:r>
            <a:endParaRPr lang="en-IN" dirty="0"/>
          </a:p>
        </p:txBody>
      </p:sp>
    </p:spTree>
    <p:extLst>
      <p:ext uri="{BB962C8B-B14F-4D97-AF65-F5344CB8AC3E}">
        <p14:creationId xmlns:p14="http://schemas.microsoft.com/office/powerpoint/2010/main" val="2909477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915</Words>
  <Application>Microsoft Office PowerPoint</Application>
  <PresentationFormat>Widescreen</PresentationFormat>
  <Paragraphs>121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Akanksha Walde</dc:creator>
  <cp:lastModifiedBy>Akanksha Walde</cp:lastModifiedBy>
  <cp:revision>1</cp:revision>
  <dcterms:created xsi:type="dcterms:W3CDTF">2025-11-08T07:22:52Z</dcterms:created>
  <dcterms:modified xsi:type="dcterms:W3CDTF">2025-11-12T09:54:12Z</dcterms:modified>
</cp:coreProperties>
</file>